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4630400" cy="8229600"/>
  <p:notesSz cx="8229600" cy="14630400"/>
  <p:embeddedFontLst>
    <p:embeddedFont>
      <p:font typeface="Roboto Slab"/>
      <p:regular r:id="rId18"/>
    </p:embeddedFont>
    <p:embeddedFont>
      <p:font typeface="Roboto Slab"/>
      <p:regular r:id="rId19"/>
    </p:embeddedFont>
    <p:embeddedFont>
      <p:font typeface="Roboto"/>
      <p:regular r:id="rId20"/>
    </p:embeddedFont>
    <p:embeddedFont>
      <p:font typeface="Roboto"/>
      <p:regular r:id="rId21"/>
    </p:embeddedFont>
    <p:embeddedFont>
      <p:font typeface="Roboto"/>
      <p:regular r:id="rId22"/>
    </p:embeddedFont>
    <p:embeddedFont>
      <p:font typeface="Roboto"/>
      <p:regular r:id="rId2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slideLayout" Target="../slideLayouts/slideLayout6.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slideLayout" Target="../slideLayouts/slideLayout7.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sv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sv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image" Target="../media/image-8-19.png"/><Relationship Id="rId20" Type="http://schemas.openxmlformats.org/officeDocument/2006/relationships/image" Target="../media/image-8-20.svg"/><Relationship Id="rId21" Type="http://schemas.openxmlformats.org/officeDocument/2006/relationships/slideLayout" Target="../slideLayouts/slideLayout9.xml"/><Relationship Id="rId2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slideLayout" Target="../slideLayouts/slideLayout12.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81526" y="732711"/>
            <a:ext cx="6295311" cy="2442210"/>
          </a:xfrm>
          <a:prstGeom prst="rect">
            <a:avLst/>
          </a:prstGeom>
          <a:noFill/>
          <a:ln/>
        </p:spPr>
        <p:txBody>
          <a:bodyPr wrap="square" lIns="0" tIns="0" rIns="0" bIns="0" rtlCol="0" anchor="t"/>
          <a:lstStyle/>
          <a:p>
            <a:pPr algn="l" indent="0" marL="0">
              <a:lnSpc>
                <a:spcPts val="4800"/>
              </a:lnSpc>
              <a:buNone/>
            </a:pPr>
            <a:r>
              <a:rPr lang="en-US" sz="3800" dirty="0">
                <a:solidFill>
                  <a:srgbClr val="3257B8"/>
                </a:solidFill>
                <a:latin typeface="Roboto Slab" pitchFamily="34" charset="0"/>
                <a:ea typeface="Roboto Slab" pitchFamily="34" charset="-122"/>
                <a:cs typeface="Roboto Slab" pitchFamily="34" charset="-120"/>
              </a:rPr>
              <a:t>Foundations of Artificial Intelligence: Core Concepts and Techniques</a:t>
            </a:r>
            <a:endParaRPr lang="en-US" sz="3800" dirty="0"/>
          </a:p>
        </p:txBody>
      </p:sp>
      <p:sp>
        <p:nvSpPr>
          <p:cNvPr id="3" name="Text 1"/>
          <p:cNvSpPr/>
          <p:nvPr/>
        </p:nvSpPr>
        <p:spPr>
          <a:xfrm>
            <a:off x="781526" y="3370302"/>
            <a:ext cx="6295311" cy="1562695"/>
          </a:xfrm>
          <a:prstGeom prst="rect">
            <a:avLst/>
          </a:prstGeom>
          <a:noFill/>
          <a:ln/>
        </p:spPr>
        <p:txBody>
          <a:bodyPr wrap="square" lIns="0" tIns="0" rIns="0" bIns="0" rtlCol="0" anchor="t"/>
          <a:lstStyle/>
          <a:p>
            <a:pPr algn="l" indent="0" marL="0">
              <a:lnSpc>
                <a:spcPts val="2450"/>
              </a:lnSpc>
              <a:buNone/>
            </a:pPr>
            <a:r>
              <a:rPr lang="en-US" sz="1500" dirty="0">
                <a:solidFill>
                  <a:srgbClr val="15213F"/>
                </a:solidFill>
                <a:latin typeface="Roboto" pitchFamily="34" charset="0"/>
                <a:ea typeface="Roboto" pitchFamily="34" charset="-122"/>
                <a:cs typeface="Roboto" pitchFamily="34" charset="-120"/>
              </a:rPr>
              <a:t>Welcome to an exploration of Artificial Intelligence, a field dedicated to creating systems that can reason, learn, and act with intelligence. This presentation provides an overview of the core concepts, historical approaches, and foundational algorithms essential for computer science students and early-career AI practitioners.</a:t>
            </a:r>
            <a:endParaRPr lang="en-US" sz="1500" dirty="0"/>
          </a:p>
        </p:txBody>
      </p:sp>
      <p:pic>
        <p:nvPicPr>
          <p:cNvPr id="4" name="Image 0" descr="preencoded.png">    </p:cNvPr>
          <p:cNvPicPr>
            <a:picLocks noChangeAspect="1"/>
          </p:cNvPicPr>
          <p:nvPr/>
        </p:nvPicPr>
        <p:blipFill>
          <a:blip r:embed="rId1"/>
          <a:stretch>
            <a:fillRect/>
          </a:stretch>
        </p:blipFill>
        <p:spPr>
          <a:xfrm>
            <a:off x="7561183" y="757118"/>
            <a:ext cx="6295311" cy="6295311"/>
          </a:xfrm>
          <a:prstGeom prst="rect">
            <a:avLst/>
          </a:prstGeom>
        </p:spPr>
      </p:pic>
      <p:sp>
        <p:nvSpPr>
          <p:cNvPr id="5" name="Text 2"/>
          <p:cNvSpPr/>
          <p:nvPr/>
        </p:nvSpPr>
        <p:spPr>
          <a:xfrm>
            <a:off x="781526" y="7492008"/>
            <a:ext cx="13067348" cy="312539"/>
          </a:xfrm>
          <a:prstGeom prst="rect">
            <a:avLst/>
          </a:prstGeom>
          <a:noFill/>
          <a:ln/>
        </p:spPr>
        <p:txBody>
          <a:bodyPr wrap="none" lIns="0" tIns="0" rIns="0" bIns="0" rtlCol="0" anchor="t"/>
          <a:lstStyle/>
          <a:p>
            <a:pPr algn="l" indent="0" marL="0">
              <a:lnSpc>
                <a:spcPts val="2450"/>
              </a:lnSpc>
              <a:buNone/>
            </a:pP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202769"/>
            <a:ext cx="7823121" cy="620078"/>
          </a:xfrm>
          <a:prstGeom prst="rect">
            <a:avLst/>
          </a:prstGeom>
          <a:noFill/>
          <a:ln/>
        </p:spPr>
        <p:txBody>
          <a:bodyPr wrap="none" lIns="0" tIns="0" rIns="0" bIns="0" rtlCol="0" anchor="t"/>
          <a:lstStyle/>
          <a:p>
            <a:pPr algn="l" indent="0" marL="0">
              <a:lnSpc>
                <a:spcPts val="4850"/>
              </a:lnSpc>
              <a:buNone/>
            </a:pPr>
            <a:r>
              <a:rPr lang="en-US" sz="3900" dirty="0">
                <a:solidFill>
                  <a:srgbClr val="3257B8"/>
                </a:solidFill>
                <a:latin typeface="Roboto Slab" pitchFamily="34" charset="0"/>
                <a:ea typeface="Roboto Slab" pitchFamily="34" charset="-122"/>
                <a:cs typeface="Roboto Slab" pitchFamily="34" charset="-120"/>
              </a:rPr>
              <a:t>Defining Intelligence: What is AI?</a:t>
            </a:r>
            <a:endParaRPr lang="en-US" sz="3900" dirty="0"/>
          </a:p>
        </p:txBody>
      </p:sp>
      <p:sp>
        <p:nvSpPr>
          <p:cNvPr id="3" name="Shape 1"/>
          <p:cNvSpPr/>
          <p:nvPr/>
        </p:nvSpPr>
        <p:spPr>
          <a:xfrm>
            <a:off x="793790" y="2219682"/>
            <a:ext cx="6422231" cy="2316599"/>
          </a:xfrm>
          <a:prstGeom prst="roundRect">
            <a:avLst>
              <a:gd name="adj" fmla="val 1285"/>
            </a:avLst>
          </a:prstGeom>
          <a:solidFill>
            <a:srgbClr val="E9ECF2"/>
          </a:solidFill>
          <a:ln/>
        </p:spPr>
      </p:sp>
      <p:pic>
        <p:nvPicPr>
          <p:cNvPr id="4" name="Image 0" descr="preencoded.png">    </p:cNvPr>
          <p:cNvPicPr>
            <a:picLocks noChangeAspect="1"/>
          </p:cNvPicPr>
          <p:nvPr/>
        </p:nvPicPr>
        <p:blipFill>
          <a:blip r:embed="rId1"/>
          <a:stretch>
            <a:fillRect/>
          </a:stretch>
        </p:blipFill>
        <p:spPr>
          <a:xfrm>
            <a:off x="992148" y="2418040"/>
            <a:ext cx="595313" cy="595313"/>
          </a:xfrm>
          <a:prstGeom prst="rect">
            <a:avLst/>
          </a:prstGeom>
        </p:spPr>
      </p:pic>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55859" y="2581632"/>
            <a:ext cx="267891" cy="267891"/>
          </a:xfrm>
          <a:prstGeom prst="rect">
            <a:avLst/>
          </a:prstGeom>
        </p:spPr>
      </p:pic>
      <p:sp>
        <p:nvSpPr>
          <p:cNvPr id="6" name="Text 2"/>
          <p:cNvSpPr/>
          <p:nvPr/>
        </p:nvSpPr>
        <p:spPr>
          <a:xfrm>
            <a:off x="992148" y="3211711"/>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15213F"/>
                </a:solidFill>
                <a:latin typeface="Roboto Slab" pitchFamily="34" charset="0"/>
                <a:ea typeface="Roboto Slab" pitchFamily="34" charset="-122"/>
                <a:cs typeface="Roboto Slab" pitchFamily="34" charset="-120"/>
              </a:rPr>
              <a:t>Defining AI</a:t>
            </a:r>
            <a:endParaRPr lang="en-US" sz="2300" dirty="0"/>
          </a:p>
        </p:txBody>
      </p:sp>
      <p:sp>
        <p:nvSpPr>
          <p:cNvPr id="7" name="Text 3"/>
          <p:cNvSpPr/>
          <p:nvPr/>
        </p:nvSpPr>
        <p:spPr>
          <a:xfrm>
            <a:off x="992148" y="3702844"/>
            <a:ext cx="6025515" cy="63507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We begin with the core question: What constitutes artificial intelligence, and how do we measure it?</a:t>
            </a:r>
            <a:endParaRPr lang="en-US" sz="1550" dirty="0"/>
          </a:p>
        </p:txBody>
      </p:sp>
      <p:sp>
        <p:nvSpPr>
          <p:cNvPr id="8" name="Shape 4"/>
          <p:cNvSpPr/>
          <p:nvPr/>
        </p:nvSpPr>
        <p:spPr>
          <a:xfrm>
            <a:off x="7414379" y="2219682"/>
            <a:ext cx="6422231" cy="2316599"/>
          </a:xfrm>
          <a:prstGeom prst="roundRect">
            <a:avLst>
              <a:gd name="adj" fmla="val 1285"/>
            </a:avLst>
          </a:prstGeom>
          <a:solidFill>
            <a:srgbClr val="E9ECF2"/>
          </a:solidFill>
          <a:ln/>
        </p:spPr>
      </p:sp>
      <p:pic>
        <p:nvPicPr>
          <p:cNvPr id="9" name="Image 2" descr="preencoded.png">    </p:cNvPr>
          <p:cNvPicPr>
            <a:picLocks noChangeAspect="1"/>
          </p:cNvPicPr>
          <p:nvPr/>
        </p:nvPicPr>
        <p:blipFill>
          <a:blip r:embed="rId4"/>
          <a:stretch>
            <a:fillRect/>
          </a:stretch>
        </p:blipFill>
        <p:spPr>
          <a:xfrm>
            <a:off x="7612737" y="2418040"/>
            <a:ext cx="595313" cy="595313"/>
          </a:xfrm>
          <a:prstGeom prst="rect">
            <a:avLst/>
          </a:prstGeom>
        </p:spPr>
      </p:pic>
      <p:pic>
        <p:nvPicPr>
          <p:cNvPr id="10"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76448" y="2581632"/>
            <a:ext cx="267891" cy="267891"/>
          </a:xfrm>
          <a:prstGeom prst="rect">
            <a:avLst/>
          </a:prstGeom>
        </p:spPr>
      </p:pic>
      <p:sp>
        <p:nvSpPr>
          <p:cNvPr id="11" name="Text 5"/>
          <p:cNvSpPr/>
          <p:nvPr/>
        </p:nvSpPr>
        <p:spPr>
          <a:xfrm>
            <a:off x="7612737" y="3211711"/>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15213F"/>
                </a:solidFill>
                <a:latin typeface="Roboto Slab" pitchFamily="34" charset="0"/>
                <a:ea typeface="Roboto Slab" pitchFamily="34" charset="-122"/>
                <a:cs typeface="Roboto Slab" pitchFamily="34" charset="-120"/>
              </a:rPr>
              <a:t>The Turing Test</a:t>
            </a:r>
            <a:endParaRPr lang="en-US" sz="2300" dirty="0"/>
          </a:p>
        </p:txBody>
      </p:sp>
      <p:sp>
        <p:nvSpPr>
          <p:cNvPr id="12" name="Text 6"/>
          <p:cNvSpPr/>
          <p:nvPr/>
        </p:nvSpPr>
        <p:spPr>
          <a:xfrm>
            <a:off x="7612737" y="3702844"/>
            <a:ext cx="6025515" cy="63507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A historic and influential approach to defining and evaluating machine intelligence.</a:t>
            </a:r>
            <a:endParaRPr lang="en-US" sz="1550" dirty="0"/>
          </a:p>
        </p:txBody>
      </p:sp>
      <p:sp>
        <p:nvSpPr>
          <p:cNvPr id="13" name="Text 7"/>
          <p:cNvSpPr/>
          <p:nvPr/>
        </p:nvSpPr>
        <p:spPr>
          <a:xfrm>
            <a:off x="1091446" y="5057180"/>
            <a:ext cx="7507605" cy="496133"/>
          </a:xfrm>
          <a:prstGeom prst="rect">
            <a:avLst/>
          </a:prstGeom>
          <a:noFill/>
          <a:ln/>
        </p:spPr>
        <p:txBody>
          <a:bodyPr wrap="none" lIns="0" tIns="0" rIns="0" bIns="0" rtlCol="0" anchor="t"/>
          <a:lstStyle/>
          <a:p>
            <a:pPr algn="l" indent="0" marL="0">
              <a:lnSpc>
                <a:spcPts val="3900"/>
              </a:lnSpc>
              <a:buNone/>
            </a:pPr>
            <a:r>
              <a:rPr lang="en-US" sz="3100" dirty="0">
                <a:solidFill>
                  <a:srgbClr val="3257B8"/>
                </a:solidFill>
                <a:latin typeface="Roboto Slab" pitchFamily="34" charset="0"/>
                <a:ea typeface="Roboto Slab" pitchFamily="34" charset="-122"/>
                <a:cs typeface="Roboto Slab" pitchFamily="34" charset="-120"/>
              </a:rPr>
              <a:t>Measuring Intelligence: The Turing Test</a:t>
            </a:r>
            <a:endParaRPr lang="en-US" sz="3100" dirty="0"/>
          </a:p>
        </p:txBody>
      </p:sp>
      <p:sp>
        <p:nvSpPr>
          <p:cNvPr id="14" name="Text 8"/>
          <p:cNvSpPr/>
          <p:nvPr/>
        </p:nvSpPr>
        <p:spPr>
          <a:xfrm>
            <a:off x="1091446" y="5850969"/>
            <a:ext cx="12745164" cy="95261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The Turing Test, proposed by Alan Turing in 1950, suggested that if a machine could converse with a human judge and consistently deceive the judge into believing it was human, then it possesses intelligence. This approach focuses on the machine's ability to act like a human, emphasizing observable behavior over internal mechanisms.</a:t>
            </a:r>
            <a:endParaRPr lang="en-US" sz="1550" dirty="0"/>
          </a:p>
        </p:txBody>
      </p:sp>
      <p:sp>
        <p:nvSpPr>
          <p:cNvPr id="15" name="Shape 9"/>
          <p:cNvSpPr/>
          <p:nvPr/>
        </p:nvSpPr>
        <p:spPr>
          <a:xfrm>
            <a:off x="793790" y="4759523"/>
            <a:ext cx="22860" cy="2267307"/>
          </a:xfrm>
          <a:prstGeom prst="rect">
            <a:avLst/>
          </a:prstGeom>
          <a:solidFill>
            <a:srgbClr val="3257B8"/>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203365"/>
            <a:ext cx="7912775" cy="620078"/>
          </a:xfrm>
          <a:prstGeom prst="rect">
            <a:avLst/>
          </a:prstGeom>
          <a:noFill/>
          <a:ln/>
        </p:spPr>
        <p:txBody>
          <a:bodyPr wrap="none" lIns="0" tIns="0" rIns="0" bIns="0" rtlCol="0" anchor="t"/>
          <a:lstStyle/>
          <a:p>
            <a:pPr algn="l" indent="0" marL="0">
              <a:lnSpc>
                <a:spcPts val="4850"/>
              </a:lnSpc>
              <a:buNone/>
            </a:pPr>
            <a:r>
              <a:rPr lang="en-US" sz="3900" dirty="0">
                <a:solidFill>
                  <a:srgbClr val="3257B8"/>
                </a:solidFill>
                <a:latin typeface="Roboto Slab" pitchFamily="34" charset="0"/>
                <a:ea typeface="Roboto Slab" pitchFamily="34" charset="-122"/>
                <a:cs typeface="Roboto Slab" pitchFamily="34" charset="-120"/>
              </a:rPr>
              <a:t>Intelligent Agents and Rationality</a:t>
            </a:r>
            <a:endParaRPr lang="en-US" sz="3900" dirty="0"/>
          </a:p>
        </p:txBody>
      </p:sp>
      <p:sp>
        <p:nvSpPr>
          <p:cNvPr id="3" name="Text 1"/>
          <p:cNvSpPr/>
          <p:nvPr/>
        </p:nvSpPr>
        <p:spPr>
          <a:xfrm>
            <a:off x="793790" y="2220278"/>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In modern AI, the concept of an "agent" is central. An agent is anything that can be viewed as perceiving its environment through sensors and acting upon that environment through actuators. To be useful, these agents must strive for rationality.</a:t>
            </a:r>
            <a:endParaRPr lang="en-US" sz="1550" dirty="0"/>
          </a:p>
        </p:txBody>
      </p:sp>
      <p:sp>
        <p:nvSpPr>
          <p:cNvPr id="4" name="Shape 2"/>
          <p:cNvSpPr/>
          <p:nvPr/>
        </p:nvSpPr>
        <p:spPr>
          <a:xfrm>
            <a:off x="793790" y="3078599"/>
            <a:ext cx="6422231" cy="1886188"/>
          </a:xfrm>
          <a:prstGeom prst="roundRect">
            <a:avLst>
              <a:gd name="adj" fmla="val 5817"/>
            </a:avLst>
          </a:prstGeom>
          <a:solidFill>
            <a:srgbClr val="FBFCFE"/>
          </a:solidFill>
          <a:ln w="22860">
            <a:solidFill>
              <a:srgbClr val="CFD2D8"/>
            </a:solidFill>
            <a:prstDash val="solid"/>
          </a:ln>
        </p:spPr>
      </p:sp>
      <p:pic>
        <p:nvPicPr>
          <p:cNvPr id="5" name="Image 0" descr="preencoded.png">    </p:cNvPr>
          <p:cNvPicPr>
            <a:picLocks noChangeAspect="1"/>
          </p:cNvPicPr>
          <p:nvPr/>
        </p:nvPicPr>
        <p:blipFill>
          <a:blip r:embed="rId1"/>
          <a:stretch>
            <a:fillRect/>
          </a:stretch>
        </p:blipFill>
        <p:spPr>
          <a:xfrm>
            <a:off x="770930" y="3078599"/>
            <a:ext cx="91440" cy="1886188"/>
          </a:xfrm>
          <a:prstGeom prst="rect">
            <a:avLst/>
          </a:prstGeom>
        </p:spPr>
      </p:pic>
      <p:sp>
        <p:nvSpPr>
          <p:cNvPr id="6" name="Text 3"/>
          <p:cNvSpPr/>
          <p:nvPr/>
        </p:nvSpPr>
        <p:spPr>
          <a:xfrm>
            <a:off x="1083588" y="3299817"/>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15213F"/>
                </a:solidFill>
                <a:latin typeface="Roboto Slab" pitchFamily="34" charset="0"/>
                <a:ea typeface="Roboto Slab" pitchFamily="34" charset="-122"/>
                <a:cs typeface="Roboto Slab" pitchFamily="34" charset="-120"/>
              </a:rPr>
              <a:t>Agents Defined</a:t>
            </a:r>
            <a:endParaRPr lang="en-US" sz="2300" dirty="0"/>
          </a:p>
        </p:txBody>
      </p:sp>
      <p:sp>
        <p:nvSpPr>
          <p:cNvPr id="7" name="Text 4"/>
          <p:cNvSpPr/>
          <p:nvPr/>
        </p:nvSpPr>
        <p:spPr>
          <a:xfrm>
            <a:off x="1083588" y="3790950"/>
            <a:ext cx="5911215" cy="95261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An AI agent is an entity that performs mapping from percept sequences to actions. They operate cyclically: perceive, process, and act.</a:t>
            </a:r>
            <a:endParaRPr lang="en-US" sz="1550" dirty="0"/>
          </a:p>
        </p:txBody>
      </p:sp>
      <p:sp>
        <p:nvSpPr>
          <p:cNvPr id="8" name="Shape 5"/>
          <p:cNvSpPr/>
          <p:nvPr/>
        </p:nvSpPr>
        <p:spPr>
          <a:xfrm>
            <a:off x="7414379" y="3078599"/>
            <a:ext cx="6422231" cy="1886188"/>
          </a:xfrm>
          <a:prstGeom prst="roundRect">
            <a:avLst>
              <a:gd name="adj" fmla="val 5817"/>
            </a:avLst>
          </a:prstGeom>
          <a:solidFill>
            <a:srgbClr val="FBFCFE"/>
          </a:solidFill>
          <a:ln w="22860">
            <a:solidFill>
              <a:srgbClr val="CFD2D8"/>
            </a:solidFill>
            <a:prstDash val="solid"/>
          </a:ln>
        </p:spPr>
      </p:sp>
      <p:pic>
        <p:nvPicPr>
          <p:cNvPr id="9" name="Image 1" descr="preencoded.png">    </p:cNvPr>
          <p:cNvPicPr>
            <a:picLocks noChangeAspect="1"/>
          </p:cNvPicPr>
          <p:nvPr/>
        </p:nvPicPr>
        <p:blipFill>
          <a:blip r:embed="rId2"/>
          <a:stretch>
            <a:fillRect/>
          </a:stretch>
        </p:blipFill>
        <p:spPr>
          <a:xfrm>
            <a:off x="7391519" y="3078599"/>
            <a:ext cx="91440" cy="1886188"/>
          </a:xfrm>
          <a:prstGeom prst="rect">
            <a:avLst/>
          </a:prstGeom>
        </p:spPr>
      </p:pic>
      <p:sp>
        <p:nvSpPr>
          <p:cNvPr id="10" name="Text 6"/>
          <p:cNvSpPr/>
          <p:nvPr/>
        </p:nvSpPr>
        <p:spPr>
          <a:xfrm>
            <a:off x="7704177" y="3299817"/>
            <a:ext cx="3732490" cy="372070"/>
          </a:xfrm>
          <a:prstGeom prst="rect">
            <a:avLst/>
          </a:prstGeom>
          <a:noFill/>
          <a:ln/>
        </p:spPr>
        <p:txBody>
          <a:bodyPr wrap="none" lIns="0" tIns="0" rIns="0" bIns="0" rtlCol="0" anchor="t"/>
          <a:lstStyle/>
          <a:p>
            <a:pPr algn="l" indent="0" marL="0">
              <a:lnSpc>
                <a:spcPts val="2900"/>
              </a:lnSpc>
              <a:buNone/>
            </a:pPr>
            <a:r>
              <a:rPr lang="en-US" sz="2300" dirty="0">
                <a:solidFill>
                  <a:srgbClr val="15213F"/>
                </a:solidFill>
                <a:latin typeface="Roboto Slab" pitchFamily="34" charset="0"/>
                <a:ea typeface="Roboto Slab" pitchFamily="34" charset="-122"/>
                <a:cs typeface="Roboto Slab" pitchFamily="34" charset="-120"/>
              </a:rPr>
              <a:t>The Concept of Rationality</a:t>
            </a:r>
            <a:endParaRPr lang="en-US" sz="2300" dirty="0"/>
          </a:p>
        </p:txBody>
      </p:sp>
      <p:sp>
        <p:nvSpPr>
          <p:cNvPr id="11" name="Text 7"/>
          <p:cNvSpPr/>
          <p:nvPr/>
        </p:nvSpPr>
        <p:spPr>
          <a:xfrm>
            <a:off x="7704177" y="3790950"/>
            <a:ext cx="5911215" cy="95261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A rational agent is one that acts correctly—it chooses the action that is expected to maximize its performance measure, given the percept sequence to date and its built-in knowledge.</a:t>
            </a:r>
            <a:endParaRPr lang="en-US" sz="1550" dirty="0"/>
          </a:p>
        </p:txBody>
      </p:sp>
      <p:sp>
        <p:nvSpPr>
          <p:cNvPr id="12" name="Text 8"/>
          <p:cNvSpPr/>
          <p:nvPr/>
        </p:nvSpPr>
        <p:spPr>
          <a:xfrm>
            <a:off x="793790" y="5386388"/>
            <a:ext cx="2585204" cy="310158"/>
          </a:xfrm>
          <a:prstGeom prst="rect">
            <a:avLst/>
          </a:prstGeom>
          <a:noFill/>
          <a:ln/>
        </p:spPr>
        <p:txBody>
          <a:bodyPr wrap="none" lIns="0" tIns="0" rIns="0" bIns="0" rtlCol="0" anchor="t"/>
          <a:lstStyle/>
          <a:p>
            <a:pPr algn="l" indent="0" marL="0">
              <a:lnSpc>
                <a:spcPts val="2400"/>
              </a:lnSpc>
              <a:buNone/>
            </a:pPr>
            <a:r>
              <a:rPr lang="en-US" sz="1950" dirty="0">
                <a:solidFill>
                  <a:srgbClr val="3257B8"/>
                </a:solidFill>
                <a:latin typeface="Roboto Slab" pitchFamily="34" charset="0"/>
                <a:ea typeface="Roboto Slab" pitchFamily="34" charset="-122"/>
                <a:cs typeface="Roboto Slab" pitchFamily="34" charset="-120"/>
              </a:rPr>
              <a:t>Performance Measure</a:t>
            </a:r>
            <a:endParaRPr lang="en-US" sz="1950" dirty="0"/>
          </a:p>
        </p:txBody>
      </p:sp>
      <p:sp>
        <p:nvSpPr>
          <p:cNvPr id="13" name="Text 9"/>
          <p:cNvSpPr/>
          <p:nvPr/>
        </p:nvSpPr>
        <p:spPr>
          <a:xfrm>
            <a:off x="793790" y="5894903"/>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A rational agent's success is measured by a performance measure, which determines what is desirable in the environment (e.g., maximizing profit, minimizing cost, or cleaning a floor efficiently).</a:t>
            </a:r>
            <a:endParaRPr lang="en-US" sz="1550" dirty="0"/>
          </a:p>
        </p:txBody>
      </p:sp>
      <p:sp>
        <p:nvSpPr>
          <p:cNvPr id="14" name="Text 10"/>
          <p:cNvSpPr/>
          <p:nvPr/>
        </p:nvSpPr>
        <p:spPr>
          <a:xfrm>
            <a:off x="7564874" y="5386388"/>
            <a:ext cx="3275886" cy="310158"/>
          </a:xfrm>
          <a:prstGeom prst="rect">
            <a:avLst/>
          </a:prstGeom>
          <a:noFill/>
          <a:ln/>
        </p:spPr>
        <p:txBody>
          <a:bodyPr wrap="none" lIns="0" tIns="0" rIns="0" bIns="0" rtlCol="0" anchor="t"/>
          <a:lstStyle/>
          <a:p>
            <a:pPr algn="l" indent="0" marL="0">
              <a:lnSpc>
                <a:spcPts val="2400"/>
              </a:lnSpc>
              <a:buNone/>
            </a:pPr>
            <a:r>
              <a:rPr lang="en-US" sz="1950" dirty="0">
                <a:solidFill>
                  <a:srgbClr val="3257B8"/>
                </a:solidFill>
                <a:latin typeface="Roboto Slab" pitchFamily="34" charset="0"/>
                <a:ea typeface="Roboto Slab" pitchFamily="34" charset="-122"/>
                <a:cs typeface="Roboto Slab" pitchFamily="34" charset="-120"/>
              </a:rPr>
              <a:t>Omniscience vs. Rationality</a:t>
            </a:r>
            <a:endParaRPr lang="en-US" sz="1950" dirty="0"/>
          </a:p>
        </p:txBody>
      </p:sp>
      <p:sp>
        <p:nvSpPr>
          <p:cNvPr id="15" name="Text 11"/>
          <p:cNvSpPr/>
          <p:nvPr/>
        </p:nvSpPr>
        <p:spPr>
          <a:xfrm>
            <a:off x="7564874" y="5894903"/>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An agent cannot be omniscient (knowing the actual outcome of its actions). Rationality deals with expected success given the available information, not guaranteed success.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87956" y="541972"/>
            <a:ext cx="10457974" cy="615672"/>
          </a:xfrm>
          <a:prstGeom prst="rect">
            <a:avLst/>
          </a:prstGeom>
          <a:noFill/>
          <a:ln/>
        </p:spPr>
        <p:txBody>
          <a:bodyPr wrap="none" lIns="0" tIns="0" rIns="0" bIns="0" rtlCol="0" anchor="t"/>
          <a:lstStyle/>
          <a:p>
            <a:pPr algn="l" indent="0" marL="0">
              <a:lnSpc>
                <a:spcPts val="4800"/>
              </a:lnSpc>
              <a:buNone/>
            </a:pPr>
            <a:r>
              <a:rPr lang="en-US" sz="3850" dirty="0">
                <a:solidFill>
                  <a:srgbClr val="3257B8"/>
                </a:solidFill>
                <a:latin typeface="Roboto Slab" pitchFamily="34" charset="0"/>
                <a:ea typeface="Roboto Slab" pitchFamily="34" charset="-122"/>
                <a:cs typeface="Roboto Slab" pitchFamily="34" charset="-120"/>
              </a:rPr>
              <a:t>Characterizing the Task Environment (PEAS)</a:t>
            </a:r>
            <a:endParaRPr lang="en-US" sz="3850" dirty="0"/>
          </a:p>
        </p:txBody>
      </p:sp>
      <p:sp>
        <p:nvSpPr>
          <p:cNvPr id="3" name="Text 1"/>
          <p:cNvSpPr/>
          <p:nvPr/>
        </p:nvSpPr>
        <p:spPr>
          <a:xfrm>
            <a:off x="787956" y="1551623"/>
            <a:ext cx="13054489" cy="630555"/>
          </a:xfrm>
          <a:prstGeom prst="rect">
            <a:avLst/>
          </a:prstGeom>
          <a:noFill/>
          <a:ln/>
        </p:spPr>
        <p:txBody>
          <a:bodyPr wrap="square" lIns="0" tIns="0" rIns="0" bIns="0" rtlCol="0" anchor="t"/>
          <a:lstStyle/>
          <a:p>
            <a:pPr algn="l" indent="0" marL="0">
              <a:lnSpc>
                <a:spcPts val="2450"/>
              </a:lnSpc>
              <a:buNone/>
            </a:pPr>
            <a:r>
              <a:rPr lang="en-US" sz="1550" dirty="0">
                <a:solidFill>
                  <a:srgbClr val="15213F"/>
                </a:solidFill>
                <a:latin typeface="Roboto" pitchFamily="34" charset="0"/>
                <a:ea typeface="Roboto" pitchFamily="34" charset="-122"/>
                <a:cs typeface="Roboto" pitchFamily="34" charset="-120"/>
              </a:rPr>
              <a:t>To design a rational agent, we must first fully specify the task environment. AI uses the PEAS (Performance, Environment, Actuators, Sensors) framework to categorize and define the problem space.</a:t>
            </a:r>
            <a:endParaRPr lang="en-US" sz="1550" dirty="0"/>
          </a:p>
        </p:txBody>
      </p:sp>
      <p:sp>
        <p:nvSpPr>
          <p:cNvPr id="4" name="Shape 2"/>
          <p:cNvSpPr/>
          <p:nvPr/>
        </p:nvSpPr>
        <p:spPr>
          <a:xfrm>
            <a:off x="787956" y="2403753"/>
            <a:ext cx="3115866" cy="1811298"/>
          </a:xfrm>
          <a:prstGeom prst="roundRect">
            <a:avLst>
              <a:gd name="adj" fmla="val 6058"/>
            </a:avLst>
          </a:prstGeom>
          <a:solidFill>
            <a:srgbClr val="FBFCFE"/>
          </a:solidFill>
          <a:ln w="22860">
            <a:solidFill>
              <a:srgbClr val="3257B8"/>
            </a:solidFill>
            <a:prstDash val="solid"/>
          </a:ln>
        </p:spPr>
      </p:sp>
      <p:sp>
        <p:nvSpPr>
          <p:cNvPr id="5" name="Shape 3"/>
          <p:cNvSpPr/>
          <p:nvPr/>
        </p:nvSpPr>
        <p:spPr>
          <a:xfrm>
            <a:off x="765096" y="2403753"/>
            <a:ext cx="91440" cy="1811298"/>
          </a:xfrm>
          <a:prstGeom prst="roundRect">
            <a:avLst>
              <a:gd name="adj" fmla="val 32319"/>
            </a:avLst>
          </a:prstGeom>
          <a:solidFill>
            <a:srgbClr val="3257B8"/>
          </a:solidFill>
          <a:ln/>
        </p:spPr>
      </p:sp>
      <p:sp>
        <p:nvSpPr>
          <p:cNvPr id="6" name="Text 4"/>
          <p:cNvSpPr/>
          <p:nvPr/>
        </p:nvSpPr>
        <p:spPr>
          <a:xfrm>
            <a:off x="1076325" y="2623542"/>
            <a:ext cx="2462570" cy="307777"/>
          </a:xfrm>
          <a:prstGeom prst="rect">
            <a:avLst/>
          </a:prstGeom>
          <a:noFill/>
          <a:ln/>
        </p:spPr>
        <p:txBody>
          <a:bodyPr wrap="none" lIns="0" tIns="0" rIns="0" bIns="0" rtlCol="0" anchor="t"/>
          <a:lstStyle/>
          <a:p>
            <a:pPr algn="l" indent="0" marL="0">
              <a:lnSpc>
                <a:spcPts val="2400"/>
              </a:lnSpc>
              <a:buNone/>
            </a:pPr>
            <a:r>
              <a:rPr lang="en-US" sz="1900" dirty="0">
                <a:solidFill>
                  <a:srgbClr val="15213F"/>
                </a:solidFill>
                <a:latin typeface="Roboto Slab" pitchFamily="34" charset="0"/>
                <a:ea typeface="Roboto Slab" pitchFamily="34" charset="-122"/>
                <a:cs typeface="Roboto Slab" pitchFamily="34" charset="-120"/>
              </a:rPr>
              <a:t>Performance</a:t>
            </a:r>
            <a:endParaRPr lang="en-US" sz="1900" dirty="0"/>
          </a:p>
        </p:txBody>
      </p:sp>
      <p:sp>
        <p:nvSpPr>
          <p:cNvPr id="7" name="Text 5"/>
          <p:cNvSpPr/>
          <p:nvPr/>
        </p:nvSpPr>
        <p:spPr>
          <a:xfrm>
            <a:off x="1076325" y="3049429"/>
            <a:ext cx="2607707" cy="315278"/>
          </a:xfrm>
          <a:prstGeom prst="rect">
            <a:avLst/>
          </a:prstGeom>
          <a:noFill/>
          <a:ln/>
        </p:spPr>
        <p:txBody>
          <a:bodyPr wrap="none" lIns="0" tIns="0" rIns="0" bIns="0" rtlCol="0" anchor="t"/>
          <a:lstStyle/>
          <a:p>
            <a:pPr algn="l" indent="0" marL="0">
              <a:lnSpc>
                <a:spcPts val="2450"/>
              </a:lnSpc>
              <a:buNone/>
            </a:pPr>
            <a:r>
              <a:rPr lang="en-US" sz="1550" dirty="0">
                <a:solidFill>
                  <a:srgbClr val="15213F"/>
                </a:solidFill>
                <a:latin typeface="Roboto" pitchFamily="34" charset="0"/>
                <a:ea typeface="Roboto" pitchFamily="34" charset="-122"/>
                <a:cs typeface="Roboto" pitchFamily="34" charset="-120"/>
              </a:rPr>
              <a:t>The criteria for success.</a:t>
            </a:r>
            <a:endParaRPr lang="en-US" sz="1550" dirty="0"/>
          </a:p>
        </p:txBody>
      </p:sp>
      <p:sp>
        <p:nvSpPr>
          <p:cNvPr id="8" name="Shape 6"/>
          <p:cNvSpPr/>
          <p:nvPr/>
        </p:nvSpPr>
        <p:spPr>
          <a:xfrm>
            <a:off x="4100751" y="2403753"/>
            <a:ext cx="3115985" cy="1811298"/>
          </a:xfrm>
          <a:prstGeom prst="roundRect">
            <a:avLst>
              <a:gd name="adj" fmla="val 6058"/>
            </a:avLst>
          </a:prstGeom>
          <a:solidFill>
            <a:srgbClr val="FBFCFE"/>
          </a:solidFill>
          <a:ln w="22860">
            <a:solidFill>
              <a:srgbClr val="3257B8"/>
            </a:solidFill>
            <a:prstDash val="solid"/>
          </a:ln>
        </p:spPr>
      </p:sp>
      <p:sp>
        <p:nvSpPr>
          <p:cNvPr id="9" name="Shape 7"/>
          <p:cNvSpPr/>
          <p:nvPr/>
        </p:nvSpPr>
        <p:spPr>
          <a:xfrm>
            <a:off x="4077891" y="2403753"/>
            <a:ext cx="91440" cy="1811298"/>
          </a:xfrm>
          <a:prstGeom prst="roundRect">
            <a:avLst>
              <a:gd name="adj" fmla="val 32319"/>
            </a:avLst>
          </a:prstGeom>
          <a:solidFill>
            <a:srgbClr val="3257B8"/>
          </a:solidFill>
          <a:ln/>
        </p:spPr>
      </p:sp>
      <p:sp>
        <p:nvSpPr>
          <p:cNvPr id="10" name="Text 8"/>
          <p:cNvSpPr/>
          <p:nvPr/>
        </p:nvSpPr>
        <p:spPr>
          <a:xfrm>
            <a:off x="4389120" y="2623542"/>
            <a:ext cx="2462570" cy="307777"/>
          </a:xfrm>
          <a:prstGeom prst="rect">
            <a:avLst/>
          </a:prstGeom>
          <a:noFill/>
          <a:ln/>
        </p:spPr>
        <p:txBody>
          <a:bodyPr wrap="none" lIns="0" tIns="0" rIns="0" bIns="0" rtlCol="0" anchor="t"/>
          <a:lstStyle/>
          <a:p>
            <a:pPr algn="l" indent="0" marL="0">
              <a:lnSpc>
                <a:spcPts val="2400"/>
              </a:lnSpc>
              <a:buNone/>
            </a:pPr>
            <a:r>
              <a:rPr lang="en-US" sz="1900" dirty="0">
                <a:solidFill>
                  <a:srgbClr val="15213F"/>
                </a:solidFill>
                <a:latin typeface="Roboto Slab" pitchFamily="34" charset="0"/>
                <a:ea typeface="Roboto Slab" pitchFamily="34" charset="-122"/>
                <a:cs typeface="Roboto Slab" pitchFamily="34" charset="-120"/>
              </a:rPr>
              <a:t>Environment</a:t>
            </a:r>
            <a:endParaRPr lang="en-US" sz="1900" dirty="0"/>
          </a:p>
        </p:txBody>
      </p:sp>
      <p:sp>
        <p:nvSpPr>
          <p:cNvPr id="11" name="Text 9"/>
          <p:cNvSpPr/>
          <p:nvPr/>
        </p:nvSpPr>
        <p:spPr>
          <a:xfrm>
            <a:off x="4389120" y="3049429"/>
            <a:ext cx="2607826" cy="630555"/>
          </a:xfrm>
          <a:prstGeom prst="rect">
            <a:avLst/>
          </a:prstGeom>
          <a:noFill/>
          <a:ln/>
        </p:spPr>
        <p:txBody>
          <a:bodyPr wrap="square" lIns="0" tIns="0" rIns="0" bIns="0" rtlCol="0" anchor="t"/>
          <a:lstStyle/>
          <a:p>
            <a:pPr algn="l" indent="0" marL="0">
              <a:lnSpc>
                <a:spcPts val="2450"/>
              </a:lnSpc>
              <a:buNone/>
            </a:pPr>
            <a:r>
              <a:rPr lang="en-US" sz="1550" dirty="0">
                <a:solidFill>
                  <a:srgbClr val="15213F"/>
                </a:solidFill>
                <a:latin typeface="Roboto" pitchFamily="34" charset="0"/>
                <a:ea typeface="Roboto" pitchFamily="34" charset="-122"/>
                <a:cs typeface="Roboto" pitchFamily="34" charset="-120"/>
              </a:rPr>
              <a:t>The external world the agent operates in.</a:t>
            </a:r>
            <a:endParaRPr lang="en-US" sz="1550" dirty="0"/>
          </a:p>
        </p:txBody>
      </p:sp>
      <p:sp>
        <p:nvSpPr>
          <p:cNvPr id="12" name="Shape 10"/>
          <p:cNvSpPr/>
          <p:nvPr/>
        </p:nvSpPr>
        <p:spPr>
          <a:xfrm>
            <a:off x="7413665" y="2403753"/>
            <a:ext cx="3115866" cy="1811298"/>
          </a:xfrm>
          <a:prstGeom prst="roundRect">
            <a:avLst>
              <a:gd name="adj" fmla="val 6058"/>
            </a:avLst>
          </a:prstGeom>
          <a:solidFill>
            <a:srgbClr val="FBFCFE"/>
          </a:solidFill>
          <a:ln w="22860">
            <a:solidFill>
              <a:srgbClr val="3257B8"/>
            </a:solidFill>
            <a:prstDash val="solid"/>
          </a:ln>
        </p:spPr>
      </p:sp>
      <p:sp>
        <p:nvSpPr>
          <p:cNvPr id="13" name="Shape 11"/>
          <p:cNvSpPr/>
          <p:nvPr/>
        </p:nvSpPr>
        <p:spPr>
          <a:xfrm>
            <a:off x="7390805" y="2403753"/>
            <a:ext cx="91440" cy="1811298"/>
          </a:xfrm>
          <a:prstGeom prst="roundRect">
            <a:avLst>
              <a:gd name="adj" fmla="val 32319"/>
            </a:avLst>
          </a:prstGeom>
          <a:solidFill>
            <a:srgbClr val="3257B8"/>
          </a:solidFill>
          <a:ln/>
        </p:spPr>
      </p:sp>
      <p:sp>
        <p:nvSpPr>
          <p:cNvPr id="14" name="Text 12"/>
          <p:cNvSpPr/>
          <p:nvPr/>
        </p:nvSpPr>
        <p:spPr>
          <a:xfrm>
            <a:off x="7702034" y="2623542"/>
            <a:ext cx="2462570" cy="307777"/>
          </a:xfrm>
          <a:prstGeom prst="rect">
            <a:avLst/>
          </a:prstGeom>
          <a:noFill/>
          <a:ln/>
        </p:spPr>
        <p:txBody>
          <a:bodyPr wrap="none" lIns="0" tIns="0" rIns="0" bIns="0" rtlCol="0" anchor="t"/>
          <a:lstStyle/>
          <a:p>
            <a:pPr algn="l" indent="0" marL="0">
              <a:lnSpc>
                <a:spcPts val="2400"/>
              </a:lnSpc>
              <a:buNone/>
            </a:pPr>
            <a:r>
              <a:rPr lang="en-US" sz="1900" dirty="0">
                <a:solidFill>
                  <a:srgbClr val="15213F"/>
                </a:solidFill>
                <a:latin typeface="Roboto Slab" pitchFamily="34" charset="0"/>
                <a:ea typeface="Roboto Slab" pitchFamily="34" charset="-122"/>
                <a:cs typeface="Roboto Slab" pitchFamily="34" charset="-120"/>
              </a:rPr>
              <a:t>Actuators</a:t>
            </a:r>
            <a:endParaRPr lang="en-US" sz="1900" dirty="0"/>
          </a:p>
        </p:txBody>
      </p:sp>
      <p:sp>
        <p:nvSpPr>
          <p:cNvPr id="15" name="Text 13"/>
          <p:cNvSpPr/>
          <p:nvPr/>
        </p:nvSpPr>
        <p:spPr>
          <a:xfrm>
            <a:off x="7702034" y="3049429"/>
            <a:ext cx="2607707" cy="945833"/>
          </a:xfrm>
          <a:prstGeom prst="rect">
            <a:avLst/>
          </a:prstGeom>
          <a:noFill/>
          <a:ln/>
        </p:spPr>
        <p:txBody>
          <a:bodyPr wrap="square" lIns="0" tIns="0" rIns="0" bIns="0" rtlCol="0" anchor="t"/>
          <a:lstStyle/>
          <a:p>
            <a:pPr algn="l" indent="0" marL="0">
              <a:lnSpc>
                <a:spcPts val="2450"/>
              </a:lnSpc>
              <a:buNone/>
            </a:pPr>
            <a:r>
              <a:rPr lang="en-US" sz="1550" dirty="0">
                <a:solidFill>
                  <a:srgbClr val="15213F"/>
                </a:solidFill>
                <a:latin typeface="Roboto" pitchFamily="34" charset="0"/>
                <a:ea typeface="Roboto" pitchFamily="34" charset="-122"/>
                <a:cs typeface="Roboto" pitchFamily="34" charset="-120"/>
              </a:rPr>
              <a:t>The mechanisms used to affect the environment (e.g., motors, displays).</a:t>
            </a:r>
            <a:endParaRPr lang="en-US" sz="1550" dirty="0"/>
          </a:p>
        </p:txBody>
      </p:sp>
      <p:sp>
        <p:nvSpPr>
          <p:cNvPr id="16" name="Shape 14"/>
          <p:cNvSpPr/>
          <p:nvPr/>
        </p:nvSpPr>
        <p:spPr>
          <a:xfrm>
            <a:off x="10726460" y="2403753"/>
            <a:ext cx="3115985" cy="1811298"/>
          </a:xfrm>
          <a:prstGeom prst="roundRect">
            <a:avLst>
              <a:gd name="adj" fmla="val 6058"/>
            </a:avLst>
          </a:prstGeom>
          <a:solidFill>
            <a:srgbClr val="FBFCFE"/>
          </a:solidFill>
          <a:ln w="22860">
            <a:solidFill>
              <a:srgbClr val="3257B8"/>
            </a:solidFill>
            <a:prstDash val="solid"/>
          </a:ln>
        </p:spPr>
      </p:sp>
      <p:sp>
        <p:nvSpPr>
          <p:cNvPr id="17" name="Shape 15"/>
          <p:cNvSpPr/>
          <p:nvPr/>
        </p:nvSpPr>
        <p:spPr>
          <a:xfrm>
            <a:off x="10703600" y="2403753"/>
            <a:ext cx="91440" cy="1811298"/>
          </a:xfrm>
          <a:prstGeom prst="roundRect">
            <a:avLst>
              <a:gd name="adj" fmla="val 32319"/>
            </a:avLst>
          </a:prstGeom>
          <a:solidFill>
            <a:srgbClr val="3257B8"/>
          </a:solidFill>
          <a:ln/>
        </p:spPr>
      </p:sp>
      <p:sp>
        <p:nvSpPr>
          <p:cNvPr id="18" name="Text 16"/>
          <p:cNvSpPr/>
          <p:nvPr/>
        </p:nvSpPr>
        <p:spPr>
          <a:xfrm>
            <a:off x="11014829" y="2623542"/>
            <a:ext cx="2462570" cy="307777"/>
          </a:xfrm>
          <a:prstGeom prst="rect">
            <a:avLst/>
          </a:prstGeom>
          <a:noFill/>
          <a:ln/>
        </p:spPr>
        <p:txBody>
          <a:bodyPr wrap="none" lIns="0" tIns="0" rIns="0" bIns="0" rtlCol="0" anchor="t"/>
          <a:lstStyle/>
          <a:p>
            <a:pPr algn="l" indent="0" marL="0">
              <a:lnSpc>
                <a:spcPts val="2400"/>
              </a:lnSpc>
              <a:buNone/>
            </a:pPr>
            <a:r>
              <a:rPr lang="en-US" sz="1900" dirty="0">
                <a:solidFill>
                  <a:srgbClr val="15213F"/>
                </a:solidFill>
                <a:latin typeface="Roboto Slab" pitchFamily="34" charset="0"/>
                <a:ea typeface="Roboto Slab" pitchFamily="34" charset="-122"/>
                <a:cs typeface="Roboto Slab" pitchFamily="34" charset="-120"/>
              </a:rPr>
              <a:t>Sensors</a:t>
            </a:r>
            <a:endParaRPr lang="en-US" sz="1900" dirty="0"/>
          </a:p>
        </p:txBody>
      </p:sp>
      <p:sp>
        <p:nvSpPr>
          <p:cNvPr id="19" name="Text 17"/>
          <p:cNvSpPr/>
          <p:nvPr/>
        </p:nvSpPr>
        <p:spPr>
          <a:xfrm>
            <a:off x="11014829" y="3049429"/>
            <a:ext cx="2607826" cy="945833"/>
          </a:xfrm>
          <a:prstGeom prst="rect">
            <a:avLst/>
          </a:prstGeom>
          <a:noFill/>
          <a:ln/>
        </p:spPr>
        <p:txBody>
          <a:bodyPr wrap="square" lIns="0" tIns="0" rIns="0" bIns="0" rtlCol="0" anchor="t"/>
          <a:lstStyle/>
          <a:p>
            <a:pPr algn="l" indent="0" marL="0">
              <a:lnSpc>
                <a:spcPts val="2450"/>
              </a:lnSpc>
              <a:buNone/>
            </a:pPr>
            <a:r>
              <a:rPr lang="en-US" sz="1550" dirty="0">
                <a:solidFill>
                  <a:srgbClr val="15213F"/>
                </a:solidFill>
                <a:latin typeface="Roboto" pitchFamily="34" charset="0"/>
                <a:ea typeface="Roboto" pitchFamily="34" charset="-122"/>
                <a:cs typeface="Roboto" pitchFamily="34" charset="-120"/>
              </a:rPr>
              <a:t>The tools used to perceive the environment (e.g., cameras, microphones).</a:t>
            </a:r>
            <a:endParaRPr lang="en-US" sz="1550" dirty="0"/>
          </a:p>
        </p:txBody>
      </p:sp>
      <p:sp>
        <p:nvSpPr>
          <p:cNvPr id="20" name="Text 18"/>
          <p:cNvSpPr/>
          <p:nvPr/>
        </p:nvSpPr>
        <p:spPr>
          <a:xfrm>
            <a:off x="787956" y="4510564"/>
            <a:ext cx="6910268" cy="492443"/>
          </a:xfrm>
          <a:prstGeom prst="rect">
            <a:avLst/>
          </a:prstGeom>
          <a:noFill/>
          <a:ln/>
        </p:spPr>
        <p:txBody>
          <a:bodyPr wrap="none" lIns="0" tIns="0" rIns="0" bIns="0" rtlCol="0" anchor="t"/>
          <a:lstStyle/>
          <a:p>
            <a:pPr algn="l" indent="0" marL="0">
              <a:lnSpc>
                <a:spcPts val="3850"/>
              </a:lnSpc>
              <a:buNone/>
            </a:pPr>
            <a:r>
              <a:rPr lang="en-US" sz="3100" dirty="0">
                <a:solidFill>
                  <a:srgbClr val="3257B8"/>
                </a:solidFill>
                <a:latin typeface="Roboto Slab" pitchFamily="34" charset="0"/>
                <a:ea typeface="Roboto Slab" pitchFamily="34" charset="-122"/>
                <a:cs typeface="Roboto Slab" pitchFamily="34" charset="-120"/>
              </a:rPr>
              <a:t>Key Properties of Task Environments</a:t>
            </a:r>
            <a:endParaRPr lang="en-US" sz="3100" dirty="0"/>
          </a:p>
        </p:txBody>
      </p:sp>
      <p:sp>
        <p:nvSpPr>
          <p:cNvPr id="21" name="Text 19"/>
          <p:cNvSpPr/>
          <p:nvPr/>
        </p:nvSpPr>
        <p:spPr>
          <a:xfrm>
            <a:off x="787956" y="5298519"/>
            <a:ext cx="13054489" cy="315278"/>
          </a:xfrm>
          <a:prstGeom prst="rect">
            <a:avLst/>
          </a:prstGeom>
          <a:noFill/>
          <a:ln/>
        </p:spPr>
        <p:txBody>
          <a:bodyPr wrap="none" lIns="0" tIns="0" rIns="0" bIns="0" rtlCol="0" anchor="t"/>
          <a:lstStyle/>
          <a:p>
            <a:pPr algn="l" indent="0" marL="0">
              <a:lnSpc>
                <a:spcPts val="2450"/>
              </a:lnSpc>
              <a:buNone/>
            </a:pPr>
            <a:r>
              <a:rPr lang="en-US" sz="1550" dirty="0">
                <a:solidFill>
                  <a:srgbClr val="15213F"/>
                </a:solidFill>
                <a:latin typeface="Roboto" pitchFamily="34" charset="0"/>
                <a:ea typeface="Roboto" pitchFamily="34" charset="-122"/>
                <a:cs typeface="Roboto" pitchFamily="34" charset="-120"/>
              </a:rPr>
              <a:t>Task environments can be classified based on several critical properties, which dictate the complexity of the agent required:</a:t>
            </a:r>
            <a:endParaRPr lang="en-US" sz="1550" dirty="0"/>
          </a:p>
        </p:txBody>
      </p:sp>
      <p:sp>
        <p:nvSpPr>
          <p:cNvPr id="22" name="Text 20"/>
          <p:cNvSpPr/>
          <p:nvPr/>
        </p:nvSpPr>
        <p:spPr>
          <a:xfrm>
            <a:off x="787956" y="5835372"/>
            <a:ext cx="13054489" cy="315278"/>
          </a:xfrm>
          <a:prstGeom prst="rect">
            <a:avLst/>
          </a:prstGeom>
          <a:noFill/>
          <a:ln/>
        </p:spPr>
        <p:txBody>
          <a:bodyPr wrap="none" lIns="0" tIns="0" rIns="0" bIns="0" rtlCol="0" anchor="t"/>
          <a:lstStyle/>
          <a:p>
            <a:pPr algn="l" marL="342900" indent="-342900">
              <a:lnSpc>
                <a:spcPts val="2450"/>
              </a:lnSpc>
              <a:buSzPct val="100000"/>
              <a:buChar char="•"/>
            </a:pPr>
            <a:r>
              <a:rPr lang="en-US" sz="1550" b="1" dirty="0">
                <a:solidFill>
                  <a:srgbClr val="15213F"/>
                </a:solidFill>
                <a:latin typeface="Roboto" pitchFamily="34" charset="0"/>
                <a:ea typeface="Roboto" pitchFamily="34" charset="-122"/>
                <a:cs typeface="Roboto" pitchFamily="34" charset="-120"/>
              </a:rPr>
              <a:t>Observable vs. Partially Observable:</a:t>
            </a:r>
            <a:pPr algn="l" indent="0" marL="0">
              <a:lnSpc>
                <a:spcPts val="2450"/>
              </a:lnSpc>
              <a:buNone/>
            </a:pPr>
            <a:r>
              <a:rPr lang="en-US" sz="1550" dirty="0">
                <a:solidFill>
                  <a:srgbClr val="15213F"/>
                </a:solidFill>
                <a:latin typeface="Roboto" pitchFamily="34" charset="0"/>
                <a:ea typeface="Roboto" pitchFamily="34" charset="-122"/>
                <a:cs typeface="Roboto" pitchFamily="34" charset="-120"/>
              </a:rPr>
              <a:t> Can the agent see the entire state of the environment?</a:t>
            </a:r>
            <a:endParaRPr lang="en-US" sz="1550" dirty="0"/>
          </a:p>
        </p:txBody>
      </p:sp>
      <p:sp>
        <p:nvSpPr>
          <p:cNvPr id="23" name="Text 21"/>
          <p:cNvSpPr/>
          <p:nvPr/>
        </p:nvSpPr>
        <p:spPr>
          <a:xfrm>
            <a:off x="787956" y="6219587"/>
            <a:ext cx="13054489" cy="315278"/>
          </a:xfrm>
          <a:prstGeom prst="rect">
            <a:avLst/>
          </a:prstGeom>
          <a:noFill/>
          <a:ln/>
        </p:spPr>
        <p:txBody>
          <a:bodyPr wrap="none" lIns="0" tIns="0" rIns="0" bIns="0" rtlCol="0" anchor="t"/>
          <a:lstStyle/>
          <a:p>
            <a:pPr algn="l" marL="342900" indent="-342900">
              <a:lnSpc>
                <a:spcPts val="2450"/>
              </a:lnSpc>
              <a:buSzPct val="100000"/>
              <a:buChar char="•"/>
            </a:pPr>
            <a:r>
              <a:rPr lang="en-US" sz="1550" b="1" dirty="0">
                <a:solidFill>
                  <a:srgbClr val="15213F"/>
                </a:solidFill>
                <a:latin typeface="Roboto" pitchFamily="34" charset="0"/>
                <a:ea typeface="Roboto" pitchFamily="34" charset="-122"/>
                <a:cs typeface="Roboto" pitchFamily="34" charset="-120"/>
              </a:rPr>
              <a:t>Deterministic vs. Stochastic:</a:t>
            </a:r>
            <a:pPr algn="l" indent="0" marL="0">
              <a:lnSpc>
                <a:spcPts val="2450"/>
              </a:lnSpc>
              <a:buNone/>
            </a:pPr>
            <a:r>
              <a:rPr lang="en-US" sz="1550" dirty="0">
                <a:solidFill>
                  <a:srgbClr val="15213F"/>
                </a:solidFill>
                <a:latin typeface="Roboto" pitchFamily="34" charset="0"/>
                <a:ea typeface="Roboto" pitchFamily="34" charset="-122"/>
                <a:cs typeface="Roboto" pitchFamily="34" charset="-120"/>
              </a:rPr>
              <a:t> Is the next state entirely determined by the current state and the action executed?</a:t>
            </a:r>
            <a:endParaRPr lang="en-US" sz="1550" dirty="0"/>
          </a:p>
        </p:txBody>
      </p:sp>
      <p:sp>
        <p:nvSpPr>
          <p:cNvPr id="24" name="Text 22"/>
          <p:cNvSpPr/>
          <p:nvPr/>
        </p:nvSpPr>
        <p:spPr>
          <a:xfrm>
            <a:off x="787956" y="6603802"/>
            <a:ext cx="13054489" cy="315278"/>
          </a:xfrm>
          <a:prstGeom prst="rect">
            <a:avLst/>
          </a:prstGeom>
          <a:noFill/>
          <a:ln/>
        </p:spPr>
        <p:txBody>
          <a:bodyPr wrap="none" lIns="0" tIns="0" rIns="0" bIns="0" rtlCol="0" anchor="t"/>
          <a:lstStyle/>
          <a:p>
            <a:pPr algn="l" marL="342900" indent="-342900">
              <a:lnSpc>
                <a:spcPts val="2450"/>
              </a:lnSpc>
              <a:buSzPct val="100000"/>
              <a:buChar char="•"/>
            </a:pPr>
            <a:r>
              <a:rPr lang="en-US" sz="1550" b="1" dirty="0">
                <a:solidFill>
                  <a:srgbClr val="15213F"/>
                </a:solidFill>
                <a:latin typeface="Roboto" pitchFamily="34" charset="0"/>
                <a:ea typeface="Roboto" pitchFamily="34" charset="-122"/>
                <a:cs typeface="Roboto" pitchFamily="34" charset="-120"/>
              </a:rPr>
              <a:t>Episodic vs. Sequential:</a:t>
            </a:r>
            <a:pPr algn="l" indent="0" marL="0">
              <a:lnSpc>
                <a:spcPts val="2450"/>
              </a:lnSpc>
              <a:buNone/>
            </a:pPr>
            <a:r>
              <a:rPr lang="en-US" sz="1550" dirty="0">
                <a:solidFill>
                  <a:srgbClr val="15213F"/>
                </a:solidFill>
                <a:latin typeface="Roboto" pitchFamily="34" charset="0"/>
                <a:ea typeface="Roboto" pitchFamily="34" charset="-122"/>
                <a:cs typeface="Roboto" pitchFamily="34" charset="-120"/>
              </a:rPr>
              <a:t> Is the agent's experience divided into atomic episodes, or do current actions affect future decisions?</a:t>
            </a:r>
            <a:endParaRPr lang="en-US" sz="1550" dirty="0"/>
          </a:p>
        </p:txBody>
      </p:sp>
      <p:sp>
        <p:nvSpPr>
          <p:cNvPr id="25" name="Text 23"/>
          <p:cNvSpPr/>
          <p:nvPr/>
        </p:nvSpPr>
        <p:spPr>
          <a:xfrm>
            <a:off x="787956" y="6988016"/>
            <a:ext cx="13054489" cy="315278"/>
          </a:xfrm>
          <a:prstGeom prst="rect">
            <a:avLst/>
          </a:prstGeom>
          <a:noFill/>
          <a:ln/>
        </p:spPr>
        <p:txBody>
          <a:bodyPr wrap="none" lIns="0" tIns="0" rIns="0" bIns="0" rtlCol="0" anchor="t"/>
          <a:lstStyle/>
          <a:p>
            <a:pPr algn="l" marL="342900" indent="-342900">
              <a:lnSpc>
                <a:spcPts val="2450"/>
              </a:lnSpc>
              <a:buSzPct val="100000"/>
              <a:buChar char="•"/>
            </a:pPr>
            <a:r>
              <a:rPr lang="en-US" sz="1550" b="1" dirty="0">
                <a:solidFill>
                  <a:srgbClr val="15213F"/>
                </a:solidFill>
                <a:latin typeface="Roboto" pitchFamily="34" charset="0"/>
                <a:ea typeface="Roboto" pitchFamily="34" charset="-122"/>
                <a:cs typeface="Roboto" pitchFamily="34" charset="-120"/>
              </a:rPr>
              <a:t>Static vs. Dynamic:</a:t>
            </a:r>
            <a:pPr algn="l" indent="0" marL="0">
              <a:lnSpc>
                <a:spcPts val="2450"/>
              </a:lnSpc>
              <a:buNone/>
            </a:pPr>
            <a:r>
              <a:rPr lang="en-US" sz="1550" dirty="0">
                <a:solidFill>
                  <a:srgbClr val="15213F"/>
                </a:solidFill>
                <a:latin typeface="Roboto" pitchFamily="34" charset="0"/>
                <a:ea typeface="Roboto" pitchFamily="34" charset="-122"/>
                <a:cs typeface="Roboto" pitchFamily="34" charset="-120"/>
              </a:rPr>
              <a:t> Can the environment change while the agent is deliberating?</a:t>
            </a:r>
            <a:endParaRPr lang="en-US" sz="1550" dirty="0"/>
          </a:p>
        </p:txBody>
      </p:sp>
      <p:sp>
        <p:nvSpPr>
          <p:cNvPr id="26" name="Text 24"/>
          <p:cNvSpPr/>
          <p:nvPr/>
        </p:nvSpPr>
        <p:spPr>
          <a:xfrm>
            <a:off x="787956" y="7372231"/>
            <a:ext cx="13054489" cy="315278"/>
          </a:xfrm>
          <a:prstGeom prst="rect">
            <a:avLst/>
          </a:prstGeom>
          <a:noFill/>
          <a:ln/>
        </p:spPr>
        <p:txBody>
          <a:bodyPr wrap="none" lIns="0" tIns="0" rIns="0" bIns="0" rtlCol="0" anchor="t"/>
          <a:lstStyle/>
          <a:p>
            <a:pPr algn="l" marL="342900" indent="-342900">
              <a:lnSpc>
                <a:spcPts val="2450"/>
              </a:lnSpc>
              <a:buSzPct val="100000"/>
              <a:buChar char="•"/>
            </a:pPr>
            <a:r>
              <a:rPr lang="en-US" sz="1550" b="1" dirty="0">
                <a:solidFill>
                  <a:srgbClr val="15213F"/>
                </a:solidFill>
                <a:latin typeface="Roboto" pitchFamily="34" charset="0"/>
                <a:ea typeface="Roboto" pitchFamily="34" charset="-122"/>
                <a:cs typeface="Roboto" pitchFamily="34" charset="-120"/>
              </a:rPr>
              <a:t>Discrete vs. Continuous:</a:t>
            </a:r>
            <a:pPr algn="l" indent="0" marL="0">
              <a:lnSpc>
                <a:spcPts val="2450"/>
              </a:lnSpc>
              <a:buNone/>
            </a:pPr>
            <a:r>
              <a:rPr lang="en-US" sz="1550" dirty="0">
                <a:solidFill>
                  <a:srgbClr val="15213F"/>
                </a:solidFill>
                <a:latin typeface="Roboto" pitchFamily="34" charset="0"/>
                <a:ea typeface="Roboto" pitchFamily="34" charset="-122"/>
                <a:cs typeface="Roboto" pitchFamily="34" charset="-120"/>
              </a:rPr>
              <a:t> Are the states and time finite or infinite?</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36032" y="563166"/>
            <a:ext cx="7186255" cy="496848"/>
          </a:xfrm>
          <a:prstGeom prst="rect">
            <a:avLst/>
          </a:prstGeom>
          <a:noFill/>
          <a:ln/>
        </p:spPr>
        <p:txBody>
          <a:bodyPr wrap="none" lIns="0" tIns="0" rIns="0" bIns="0" rtlCol="0" anchor="t"/>
          <a:lstStyle/>
          <a:p>
            <a:pPr algn="l" indent="0" marL="0">
              <a:lnSpc>
                <a:spcPts val="3900"/>
              </a:lnSpc>
              <a:buNone/>
            </a:pPr>
            <a:r>
              <a:rPr lang="en-US" sz="3100" dirty="0">
                <a:solidFill>
                  <a:srgbClr val="3257B8"/>
                </a:solidFill>
                <a:latin typeface="Roboto Slab" pitchFamily="34" charset="0"/>
                <a:ea typeface="Roboto Slab" pitchFamily="34" charset="-122"/>
                <a:cs typeface="Roboto Slab" pitchFamily="34" charset="-120"/>
              </a:rPr>
              <a:t>The Internal Architecture of AI Agents</a:t>
            </a:r>
            <a:endParaRPr lang="en-US" sz="3100" dirty="0"/>
          </a:p>
        </p:txBody>
      </p:sp>
      <p:sp>
        <p:nvSpPr>
          <p:cNvPr id="3" name="Text 1"/>
          <p:cNvSpPr/>
          <p:nvPr/>
        </p:nvSpPr>
        <p:spPr>
          <a:xfrm>
            <a:off x="636032" y="1378029"/>
            <a:ext cx="13358336" cy="254437"/>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The structure of an AI agent defines how it chooses actions based on its percepts and knowledge. Different problems require different levels of internal sophistication.</a:t>
            </a:r>
            <a:endParaRPr lang="en-US" sz="1250" dirty="0"/>
          </a:p>
        </p:txBody>
      </p:sp>
      <p:sp>
        <p:nvSpPr>
          <p:cNvPr id="4" name="Shape 2"/>
          <p:cNvSpPr/>
          <p:nvPr/>
        </p:nvSpPr>
        <p:spPr>
          <a:xfrm>
            <a:off x="636032" y="1811298"/>
            <a:ext cx="6599634" cy="1601986"/>
          </a:xfrm>
          <a:prstGeom prst="roundRect">
            <a:avLst>
              <a:gd name="adj" fmla="val 1489"/>
            </a:avLst>
          </a:prstGeom>
          <a:solidFill>
            <a:srgbClr val="E9ECF2"/>
          </a:solidFill>
          <a:ln/>
        </p:spPr>
      </p:sp>
      <p:sp>
        <p:nvSpPr>
          <p:cNvPr id="5" name="Shape 3"/>
          <p:cNvSpPr/>
          <p:nvPr/>
        </p:nvSpPr>
        <p:spPr>
          <a:xfrm>
            <a:off x="794980" y="1970246"/>
            <a:ext cx="477083" cy="477083"/>
          </a:xfrm>
          <a:prstGeom prst="roundRect">
            <a:avLst>
              <a:gd name="adj" fmla="val 19164560"/>
            </a:avLst>
          </a:prstGeom>
          <a:solidFill>
            <a:srgbClr val="3257B8"/>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26187" y="2101453"/>
            <a:ext cx="214670" cy="214670"/>
          </a:xfrm>
          <a:prstGeom prst="rect">
            <a:avLst/>
          </a:prstGeom>
        </p:spPr>
      </p:pic>
      <p:sp>
        <p:nvSpPr>
          <p:cNvPr id="7" name="Text 4"/>
          <p:cNvSpPr/>
          <p:nvPr/>
        </p:nvSpPr>
        <p:spPr>
          <a:xfrm>
            <a:off x="794980" y="2606278"/>
            <a:ext cx="2385417" cy="298252"/>
          </a:xfrm>
          <a:prstGeom prst="rect">
            <a:avLst/>
          </a:prstGeom>
          <a:noFill/>
          <a:ln/>
        </p:spPr>
        <p:txBody>
          <a:bodyPr wrap="none" lIns="0" tIns="0" rIns="0" bIns="0" rtlCol="0" anchor="t"/>
          <a:lstStyle/>
          <a:p>
            <a:pPr algn="l" indent="0" marL="0">
              <a:lnSpc>
                <a:spcPts val="2300"/>
              </a:lnSpc>
              <a:buNone/>
            </a:pPr>
            <a:r>
              <a:rPr lang="en-US" sz="1850" dirty="0">
                <a:solidFill>
                  <a:srgbClr val="15213F"/>
                </a:solidFill>
                <a:latin typeface="Roboto Slab" pitchFamily="34" charset="0"/>
                <a:ea typeface="Roboto Slab" pitchFamily="34" charset="-122"/>
                <a:cs typeface="Roboto Slab" pitchFamily="34" charset="-120"/>
              </a:rPr>
              <a:t>Simple Reflex Agent</a:t>
            </a:r>
            <a:endParaRPr lang="en-US" sz="1850" dirty="0"/>
          </a:p>
        </p:txBody>
      </p:sp>
      <p:sp>
        <p:nvSpPr>
          <p:cNvPr id="8" name="Text 5"/>
          <p:cNvSpPr/>
          <p:nvPr/>
        </p:nvSpPr>
        <p:spPr>
          <a:xfrm>
            <a:off x="794980" y="2999899"/>
            <a:ext cx="6281737" cy="254437"/>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Acts based on the current percept, ignoring history. Fast but limited (e.g., a thermostat).</a:t>
            </a:r>
            <a:endParaRPr lang="en-US" sz="1250" dirty="0"/>
          </a:p>
        </p:txBody>
      </p:sp>
      <p:sp>
        <p:nvSpPr>
          <p:cNvPr id="9" name="Shape 6"/>
          <p:cNvSpPr/>
          <p:nvPr/>
        </p:nvSpPr>
        <p:spPr>
          <a:xfrm>
            <a:off x="7394615" y="1811298"/>
            <a:ext cx="6599753" cy="1601986"/>
          </a:xfrm>
          <a:prstGeom prst="roundRect">
            <a:avLst>
              <a:gd name="adj" fmla="val 1489"/>
            </a:avLst>
          </a:prstGeom>
          <a:solidFill>
            <a:srgbClr val="E9ECF2"/>
          </a:solidFill>
          <a:ln/>
        </p:spPr>
      </p:sp>
      <p:sp>
        <p:nvSpPr>
          <p:cNvPr id="10" name="Shape 7"/>
          <p:cNvSpPr/>
          <p:nvPr/>
        </p:nvSpPr>
        <p:spPr>
          <a:xfrm>
            <a:off x="7553563" y="1970246"/>
            <a:ext cx="477083" cy="477083"/>
          </a:xfrm>
          <a:prstGeom prst="roundRect">
            <a:avLst>
              <a:gd name="adj" fmla="val 19164560"/>
            </a:avLst>
          </a:prstGeom>
          <a:solidFill>
            <a:srgbClr val="3257B8"/>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84770" y="2101453"/>
            <a:ext cx="214670" cy="214670"/>
          </a:xfrm>
          <a:prstGeom prst="rect">
            <a:avLst/>
          </a:prstGeom>
        </p:spPr>
      </p:pic>
      <p:sp>
        <p:nvSpPr>
          <p:cNvPr id="12" name="Text 8"/>
          <p:cNvSpPr/>
          <p:nvPr/>
        </p:nvSpPr>
        <p:spPr>
          <a:xfrm>
            <a:off x="7553563" y="2606278"/>
            <a:ext cx="2967752" cy="298252"/>
          </a:xfrm>
          <a:prstGeom prst="rect">
            <a:avLst/>
          </a:prstGeom>
          <a:noFill/>
          <a:ln/>
        </p:spPr>
        <p:txBody>
          <a:bodyPr wrap="none" lIns="0" tIns="0" rIns="0" bIns="0" rtlCol="0" anchor="t"/>
          <a:lstStyle/>
          <a:p>
            <a:pPr algn="l" indent="0" marL="0">
              <a:lnSpc>
                <a:spcPts val="2300"/>
              </a:lnSpc>
              <a:buNone/>
            </a:pPr>
            <a:r>
              <a:rPr lang="en-US" sz="1850" dirty="0">
                <a:solidFill>
                  <a:srgbClr val="15213F"/>
                </a:solidFill>
                <a:latin typeface="Roboto Slab" pitchFamily="34" charset="0"/>
                <a:ea typeface="Roboto Slab" pitchFamily="34" charset="-122"/>
                <a:cs typeface="Roboto Slab" pitchFamily="34" charset="-120"/>
              </a:rPr>
              <a:t>Model-Based Reflex Agent</a:t>
            </a:r>
            <a:endParaRPr lang="en-US" sz="1850" dirty="0"/>
          </a:p>
        </p:txBody>
      </p:sp>
      <p:sp>
        <p:nvSpPr>
          <p:cNvPr id="13" name="Text 9"/>
          <p:cNvSpPr/>
          <p:nvPr/>
        </p:nvSpPr>
        <p:spPr>
          <a:xfrm>
            <a:off x="7553563" y="2999899"/>
            <a:ext cx="6281857" cy="254437"/>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Maintains an internal state (a model) of the world to handle partial observability.</a:t>
            </a:r>
            <a:endParaRPr lang="en-US" sz="1250" dirty="0"/>
          </a:p>
        </p:txBody>
      </p:sp>
      <p:sp>
        <p:nvSpPr>
          <p:cNvPr id="14" name="Shape 10"/>
          <p:cNvSpPr/>
          <p:nvPr/>
        </p:nvSpPr>
        <p:spPr>
          <a:xfrm>
            <a:off x="636032" y="3572232"/>
            <a:ext cx="6599634" cy="1856423"/>
          </a:xfrm>
          <a:prstGeom prst="roundRect">
            <a:avLst>
              <a:gd name="adj" fmla="val 1285"/>
            </a:avLst>
          </a:prstGeom>
          <a:solidFill>
            <a:srgbClr val="E9ECF2"/>
          </a:solidFill>
          <a:ln/>
        </p:spPr>
      </p:sp>
      <p:sp>
        <p:nvSpPr>
          <p:cNvPr id="15" name="Shape 11"/>
          <p:cNvSpPr/>
          <p:nvPr/>
        </p:nvSpPr>
        <p:spPr>
          <a:xfrm>
            <a:off x="794980" y="3731181"/>
            <a:ext cx="477083" cy="477083"/>
          </a:xfrm>
          <a:prstGeom prst="roundRect">
            <a:avLst>
              <a:gd name="adj" fmla="val 19164560"/>
            </a:avLst>
          </a:prstGeom>
          <a:solidFill>
            <a:srgbClr val="3257B8"/>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26187" y="3862388"/>
            <a:ext cx="214670" cy="214670"/>
          </a:xfrm>
          <a:prstGeom prst="rect">
            <a:avLst/>
          </a:prstGeom>
        </p:spPr>
      </p:pic>
      <p:sp>
        <p:nvSpPr>
          <p:cNvPr id="17" name="Text 12"/>
          <p:cNvSpPr/>
          <p:nvPr/>
        </p:nvSpPr>
        <p:spPr>
          <a:xfrm>
            <a:off x="794980" y="4367213"/>
            <a:ext cx="2385417" cy="298252"/>
          </a:xfrm>
          <a:prstGeom prst="rect">
            <a:avLst/>
          </a:prstGeom>
          <a:noFill/>
          <a:ln/>
        </p:spPr>
        <p:txBody>
          <a:bodyPr wrap="none" lIns="0" tIns="0" rIns="0" bIns="0" rtlCol="0" anchor="t"/>
          <a:lstStyle/>
          <a:p>
            <a:pPr algn="l" indent="0" marL="0">
              <a:lnSpc>
                <a:spcPts val="2300"/>
              </a:lnSpc>
              <a:buNone/>
            </a:pPr>
            <a:r>
              <a:rPr lang="en-US" sz="1850" dirty="0">
                <a:solidFill>
                  <a:srgbClr val="15213F"/>
                </a:solidFill>
                <a:latin typeface="Roboto Slab" pitchFamily="34" charset="0"/>
                <a:ea typeface="Roboto Slab" pitchFamily="34" charset="-122"/>
                <a:cs typeface="Roboto Slab" pitchFamily="34" charset="-120"/>
              </a:rPr>
              <a:t>Goal-Based Agent</a:t>
            </a:r>
            <a:endParaRPr lang="en-US" sz="1850" dirty="0"/>
          </a:p>
        </p:txBody>
      </p:sp>
      <p:sp>
        <p:nvSpPr>
          <p:cNvPr id="18" name="Text 13"/>
          <p:cNvSpPr/>
          <p:nvPr/>
        </p:nvSpPr>
        <p:spPr>
          <a:xfrm>
            <a:off x="794980" y="4760833"/>
            <a:ext cx="6281737" cy="508873"/>
          </a:xfrm>
          <a:prstGeom prst="rect">
            <a:avLst/>
          </a:prstGeom>
          <a:noFill/>
          <a:ln/>
        </p:spPr>
        <p:txBody>
          <a:bodyPr wrap="squar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Uses goal information to decide which actions will lead to the desired future state (e.g., search algorithms).</a:t>
            </a:r>
            <a:endParaRPr lang="en-US" sz="1250" dirty="0"/>
          </a:p>
        </p:txBody>
      </p:sp>
      <p:sp>
        <p:nvSpPr>
          <p:cNvPr id="19" name="Shape 14"/>
          <p:cNvSpPr/>
          <p:nvPr/>
        </p:nvSpPr>
        <p:spPr>
          <a:xfrm>
            <a:off x="7394615" y="3572232"/>
            <a:ext cx="6599753" cy="1856423"/>
          </a:xfrm>
          <a:prstGeom prst="roundRect">
            <a:avLst>
              <a:gd name="adj" fmla="val 1285"/>
            </a:avLst>
          </a:prstGeom>
          <a:solidFill>
            <a:srgbClr val="E9ECF2"/>
          </a:solidFill>
          <a:ln/>
        </p:spPr>
      </p:sp>
      <p:sp>
        <p:nvSpPr>
          <p:cNvPr id="20" name="Shape 15"/>
          <p:cNvSpPr/>
          <p:nvPr/>
        </p:nvSpPr>
        <p:spPr>
          <a:xfrm>
            <a:off x="7553563" y="3731181"/>
            <a:ext cx="477083" cy="477083"/>
          </a:xfrm>
          <a:prstGeom prst="roundRect">
            <a:avLst>
              <a:gd name="adj" fmla="val 19164560"/>
            </a:avLst>
          </a:prstGeom>
          <a:solidFill>
            <a:srgbClr val="3257B8"/>
          </a:solidFill>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84770" y="3862388"/>
            <a:ext cx="214670" cy="214670"/>
          </a:xfrm>
          <a:prstGeom prst="rect">
            <a:avLst/>
          </a:prstGeom>
        </p:spPr>
      </p:pic>
      <p:sp>
        <p:nvSpPr>
          <p:cNvPr id="22" name="Text 16"/>
          <p:cNvSpPr/>
          <p:nvPr/>
        </p:nvSpPr>
        <p:spPr>
          <a:xfrm>
            <a:off x="7553563" y="4367213"/>
            <a:ext cx="2385417" cy="298252"/>
          </a:xfrm>
          <a:prstGeom prst="rect">
            <a:avLst/>
          </a:prstGeom>
          <a:noFill/>
          <a:ln/>
        </p:spPr>
        <p:txBody>
          <a:bodyPr wrap="none" lIns="0" tIns="0" rIns="0" bIns="0" rtlCol="0" anchor="t"/>
          <a:lstStyle/>
          <a:p>
            <a:pPr algn="l" indent="0" marL="0">
              <a:lnSpc>
                <a:spcPts val="2300"/>
              </a:lnSpc>
              <a:buNone/>
            </a:pPr>
            <a:r>
              <a:rPr lang="en-US" sz="1850" dirty="0">
                <a:solidFill>
                  <a:srgbClr val="15213F"/>
                </a:solidFill>
                <a:latin typeface="Roboto Slab" pitchFamily="34" charset="0"/>
                <a:ea typeface="Roboto Slab" pitchFamily="34" charset="-122"/>
                <a:cs typeface="Roboto Slab" pitchFamily="34" charset="-120"/>
              </a:rPr>
              <a:t>Utility-Based Agent</a:t>
            </a:r>
            <a:endParaRPr lang="en-US" sz="1850" dirty="0"/>
          </a:p>
        </p:txBody>
      </p:sp>
      <p:sp>
        <p:nvSpPr>
          <p:cNvPr id="23" name="Text 17"/>
          <p:cNvSpPr/>
          <p:nvPr/>
        </p:nvSpPr>
        <p:spPr>
          <a:xfrm>
            <a:off x="7553563" y="4760833"/>
            <a:ext cx="6281857" cy="508873"/>
          </a:xfrm>
          <a:prstGeom prst="rect">
            <a:avLst/>
          </a:prstGeom>
          <a:noFill/>
          <a:ln/>
        </p:spPr>
        <p:txBody>
          <a:bodyPr wrap="squar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Chooses actions that maximize its utility function, allowing for trade-offs between conflicting goals.</a:t>
            </a:r>
            <a:endParaRPr lang="en-US" sz="1250" dirty="0"/>
          </a:p>
        </p:txBody>
      </p:sp>
      <p:sp>
        <p:nvSpPr>
          <p:cNvPr id="24" name="Text 18"/>
          <p:cNvSpPr/>
          <p:nvPr/>
        </p:nvSpPr>
        <p:spPr>
          <a:xfrm>
            <a:off x="636032" y="5667137"/>
            <a:ext cx="4142542" cy="397431"/>
          </a:xfrm>
          <a:prstGeom prst="rect">
            <a:avLst/>
          </a:prstGeom>
          <a:noFill/>
          <a:ln/>
        </p:spPr>
        <p:txBody>
          <a:bodyPr wrap="none" lIns="0" tIns="0" rIns="0" bIns="0" rtlCol="0" anchor="t"/>
          <a:lstStyle/>
          <a:p>
            <a:pPr algn="l" indent="0" marL="0">
              <a:lnSpc>
                <a:spcPts val="3100"/>
              </a:lnSpc>
              <a:buNone/>
            </a:pPr>
            <a:r>
              <a:rPr lang="en-US" sz="2500" dirty="0">
                <a:solidFill>
                  <a:srgbClr val="3257B8"/>
                </a:solidFill>
                <a:latin typeface="Roboto Slab" pitchFamily="34" charset="0"/>
                <a:ea typeface="Roboto Slab" pitchFamily="34" charset="-122"/>
                <a:cs typeface="Roboto Slab" pitchFamily="34" charset="-120"/>
              </a:rPr>
              <a:t>The Problem-Solving Agent</a:t>
            </a:r>
            <a:endParaRPr lang="en-US" sz="2500" dirty="0"/>
          </a:p>
        </p:txBody>
      </p:sp>
      <p:sp>
        <p:nvSpPr>
          <p:cNvPr id="25" name="Text 19"/>
          <p:cNvSpPr/>
          <p:nvPr/>
        </p:nvSpPr>
        <p:spPr>
          <a:xfrm>
            <a:off x="636032" y="6303050"/>
            <a:ext cx="13358336" cy="508873"/>
          </a:xfrm>
          <a:prstGeom prst="rect">
            <a:avLst/>
          </a:prstGeom>
          <a:noFill/>
          <a:ln/>
        </p:spPr>
        <p:txBody>
          <a:bodyPr wrap="squar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The Problem-Solving Agent is a specific type of goal-based agent that uses atomic representation (states and transitions) to find a sequence of actions that leads from the initial state to a goal state. This forms the basis for many classic AI problems.</a:t>
            </a:r>
            <a:endParaRPr lang="en-US" sz="1250" dirty="0"/>
          </a:p>
        </p:txBody>
      </p:sp>
      <p:sp>
        <p:nvSpPr>
          <p:cNvPr id="26" name="Shape 20"/>
          <p:cNvSpPr/>
          <p:nvPr/>
        </p:nvSpPr>
        <p:spPr>
          <a:xfrm>
            <a:off x="636032" y="6990755"/>
            <a:ext cx="13358336" cy="675561"/>
          </a:xfrm>
          <a:prstGeom prst="roundRect">
            <a:avLst>
              <a:gd name="adj" fmla="val 3531"/>
            </a:avLst>
          </a:prstGeom>
          <a:solidFill>
            <a:srgbClr val="C3CFEF"/>
          </a:solidFill>
          <a:ln/>
        </p:spPr>
      </p:sp>
      <p:pic>
        <p:nvPicPr>
          <p:cNvPr id="27" name="Image 4" descr="preencoded.png">    </p:cNvPr>
          <p:cNvPicPr>
            <a:picLocks noChangeAspect="1"/>
          </p:cNvPicPr>
          <p:nvPr/>
        </p:nvPicPr>
        <p:blipFill>
          <a:blip r:embed="rId9"/>
          <a:stretch>
            <a:fillRect/>
          </a:stretch>
        </p:blipFill>
        <p:spPr>
          <a:xfrm>
            <a:off x="794980" y="7225427"/>
            <a:ext cx="198715" cy="158948"/>
          </a:xfrm>
          <a:prstGeom prst="rect">
            <a:avLst/>
          </a:prstGeom>
        </p:spPr>
      </p:pic>
      <p:sp>
        <p:nvSpPr>
          <p:cNvPr id="28" name="Text 21"/>
          <p:cNvSpPr/>
          <p:nvPr/>
        </p:nvSpPr>
        <p:spPr>
          <a:xfrm>
            <a:off x="1152644" y="7189351"/>
            <a:ext cx="12682776" cy="254437"/>
          </a:xfrm>
          <a:prstGeom prst="rect">
            <a:avLst/>
          </a:prstGeom>
          <a:noFill/>
          <a:ln/>
        </p:spPr>
        <p:txBody>
          <a:bodyPr wrap="none" lIns="0" tIns="0" rIns="0" bIns="0" rtlCol="0" anchor="t"/>
          <a:lstStyle/>
          <a:p>
            <a:pPr algn="l" indent="0" marL="0">
              <a:lnSpc>
                <a:spcPts val="2000"/>
              </a:lnSpc>
              <a:buNone/>
            </a:pPr>
            <a:r>
              <a:rPr lang="en-US" sz="1250" dirty="0">
                <a:solidFill>
                  <a:srgbClr val="000000"/>
                </a:solidFill>
                <a:latin typeface="Roboto" pitchFamily="34" charset="0"/>
                <a:ea typeface="Roboto" pitchFamily="34" charset="-122"/>
                <a:cs typeface="Roboto" pitchFamily="34" charset="-120"/>
              </a:rPr>
              <a:t>The transition from a reflex agent to a goal-based agent often involves moving from simple conditional actions to complex search and planning.</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092160"/>
            <a:ext cx="11231404" cy="620078"/>
          </a:xfrm>
          <a:prstGeom prst="rect">
            <a:avLst/>
          </a:prstGeom>
          <a:noFill/>
          <a:ln/>
        </p:spPr>
        <p:txBody>
          <a:bodyPr wrap="none" lIns="0" tIns="0" rIns="0" bIns="0" rtlCol="0" anchor="t"/>
          <a:lstStyle/>
          <a:p>
            <a:pPr algn="l" indent="0" marL="0">
              <a:lnSpc>
                <a:spcPts val="4850"/>
              </a:lnSpc>
              <a:buNone/>
            </a:pPr>
            <a:r>
              <a:rPr lang="en-US" sz="3900" dirty="0">
                <a:solidFill>
                  <a:srgbClr val="3257B8"/>
                </a:solidFill>
                <a:latin typeface="Roboto Slab" pitchFamily="34" charset="0"/>
                <a:ea typeface="Roboto Slab" pitchFamily="34" charset="-122"/>
                <a:cs typeface="Roboto Slab" pitchFamily="34" charset="-120"/>
              </a:rPr>
              <a:t>Formulating Problems: Definition and Examples</a:t>
            </a:r>
            <a:endParaRPr lang="en-US" sz="3900" dirty="0"/>
          </a:p>
        </p:txBody>
      </p:sp>
      <p:sp>
        <p:nvSpPr>
          <p:cNvPr id="3" name="Text 1"/>
          <p:cNvSpPr/>
          <p:nvPr/>
        </p:nvSpPr>
        <p:spPr>
          <a:xfrm>
            <a:off x="793790" y="2109073"/>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A well-defined problem in AI consists of four components: the initial state, the set of actions (or successor function), the goal test, and the path cost function. Once formulated, we can apply search techniques.</a:t>
            </a:r>
            <a:endParaRPr lang="en-US" sz="1550" dirty="0"/>
          </a:p>
        </p:txBody>
      </p:sp>
      <p:sp>
        <p:nvSpPr>
          <p:cNvPr id="4" name="Text 2"/>
          <p:cNvSpPr/>
          <p:nvPr/>
        </p:nvSpPr>
        <p:spPr>
          <a:xfrm>
            <a:off x="793790" y="3041809"/>
            <a:ext cx="4538663" cy="496133"/>
          </a:xfrm>
          <a:prstGeom prst="rect">
            <a:avLst/>
          </a:prstGeom>
          <a:noFill/>
          <a:ln/>
        </p:spPr>
        <p:txBody>
          <a:bodyPr wrap="none" lIns="0" tIns="0" rIns="0" bIns="0" rtlCol="0" anchor="t"/>
          <a:lstStyle/>
          <a:p>
            <a:pPr algn="l" indent="0" marL="0">
              <a:lnSpc>
                <a:spcPts val="3900"/>
              </a:lnSpc>
              <a:buNone/>
            </a:pPr>
            <a:r>
              <a:rPr lang="en-US" sz="3100" dirty="0">
                <a:solidFill>
                  <a:srgbClr val="3257B8"/>
                </a:solidFill>
                <a:latin typeface="Roboto Slab" pitchFamily="34" charset="0"/>
                <a:ea typeface="Roboto Slab" pitchFamily="34" charset="-122"/>
                <a:cs typeface="Roboto Slab" pitchFamily="34" charset="-120"/>
              </a:rPr>
              <a:t>Example Problem Types</a:t>
            </a:r>
            <a:endParaRPr lang="en-US" sz="3100" dirty="0"/>
          </a:p>
        </p:txBody>
      </p:sp>
      <p:sp>
        <p:nvSpPr>
          <p:cNvPr id="5" name="Text 3"/>
          <p:cNvSpPr/>
          <p:nvPr/>
        </p:nvSpPr>
        <p:spPr>
          <a:xfrm>
            <a:off x="793790" y="3835598"/>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These classic examples are essential for understanding and testing search algorithms:</a:t>
            </a:r>
            <a:endParaRPr lang="en-US" sz="15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790" y="4376380"/>
            <a:ext cx="496133" cy="496133"/>
          </a:xfrm>
          <a:prstGeom prst="rect">
            <a:avLst/>
          </a:prstGeom>
        </p:spPr>
      </p:pic>
      <p:sp>
        <p:nvSpPr>
          <p:cNvPr id="7" name="Text 4"/>
          <p:cNvSpPr/>
          <p:nvPr/>
        </p:nvSpPr>
        <p:spPr>
          <a:xfrm>
            <a:off x="793790" y="5120521"/>
            <a:ext cx="3340894" cy="310158"/>
          </a:xfrm>
          <a:prstGeom prst="rect">
            <a:avLst/>
          </a:prstGeom>
          <a:noFill/>
          <a:ln/>
        </p:spPr>
        <p:txBody>
          <a:bodyPr wrap="none" lIns="0" tIns="0" rIns="0" bIns="0" rtlCol="0" anchor="t"/>
          <a:lstStyle/>
          <a:p>
            <a:pPr algn="l" indent="0" marL="0">
              <a:lnSpc>
                <a:spcPts val="2400"/>
              </a:lnSpc>
              <a:buNone/>
            </a:pPr>
            <a:r>
              <a:rPr lang="en-US" sz="1950" dirty="0">
                <a:solidFill>
                  <a:srgbClr val="15213F"/>
                </a:solidFill>
                <a:latin typeface="Roboto Slab" pitchFamily="34" charset="0"/>
                <a:ea typeface="Roboto Slab" pitchFamily="34" charset="-122"/>
                <a:cs typeface="Roboto Slab" pitchFamily="34" charset="-120"/>
              </a:rPr>
              <a:t>Toy Problem: Vacuum World</a:t>
            </a:r>
            <a:endParaRPr lang="en-US" sz="1950" dirty="0"/>
          </a:p>
        </p:txBody>
      </p:sp>
      <p:sp>
        <p:nvSpPr>
          <p:cNvPr id="8" name="Text 5"/>
          <p:cNvSpPr/>
          <p:nvPr/>
        </p:nvSpPr>
        <p:spPr>
          <a:xfrm>
            <a:off x="793790" y="5549741"/>
            <a:ext cx="4182189" cy="127015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A simple environment where the agent must clean dirty squares. Used to illustrate basic concepts of state, actions, and goal tests with minimal complexity.</a:t>
            </a:r>
            <a:endParaRPr lang="en-US" sz="15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23986" y="4376380"/>
            <a:ext cx="496133" cy="496133"/>
          </a:xfrm>
          <a:prstGeom prst="rect">
            <a:avLst/>
          </a:prstGeom>
        </p:spPr>
      </p:pic>
      <p:sp>
        <p:nvSpPr>
          <p:cNvPr id="10" name="Text 6"/>
          <p:cNvSpPr/>
          <p:nvPr/>
        </p:nvSpPr>
        <p:spPr>
          <a:xfrm>
            <a:off x="5223986" y="5120521"/>
            <a:ext cx="2555438" cy="310158"/>
          </a:xfrm>
          <a:prstGeom prst="rect">
            <a:avLst/>
          </a:prstGeom>
          <a:noFill/>
          <a:ln/>
        </p:spPr>
        <p:txBody>
          <a:bodyPr wrap="none" lIns="0" tIns="0" rIns="0" bIns="0" rtlCol="0" anchor="t"/>
          <a:lstStyle/>
          <a:p>
            <a:pPr algn="l" indent="0" marL="0">
              <a:lnSpc>
                <a:spcPts val="2400"/>
              </a:lnSpc>
              <a:buNone/>
            </a:pPr>
            <a:r>
              <a:rPr lang="en-US" sz="1950" dirty="0">
                <a:solidFill>
                  <a:srgbClr val="15213F"/>
                </a:solidFill>
                <a:latin typeface="Roboto Slab" pitchFamily="34" charset="0"/>
                <a:ea typeface="Roboto Slab" pitchFamily="34" charset="-122"/>
                <a:cs typeface="Roboto Slab" pitchFamily="34" charset="-120"/>
              </a:rPr>
              <a:t>8-Puzzle (Tile Sliding)</a:t>
            </a:r>
            <a:endParaRPr lang="en-US" sz="1950" dirty="0"/>
          </a:p>
        </p:txBody>
      </p:sp>
      <p:sp>
        <p:nvSpPr>
          <p:cNvPr id="11" name="Text 7"/>
          <p:cNvSpPr/>
          <p:nvPr/>
        </p:nvSpPr>
        <p:spPr>
          <a:xfrm>
            <a:off x="5223986" y="5549741"/>
            <a:ext cx="4182308" cy="1587698"/>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Sliding tiles to arrange them into a goal configuration. Demonstrates the state-space search required for moderately complex problems and serves as a testbed for heuristics.</a:t>
            </a:r>
            <a:endParaRPr lang="en-US" sz="15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54302" y="4376380"/>
            <a:ext cx="496133" cy="496133"/>
          </a:xfrm>
          <a:prstGeom prst="rect">
            <a:avLst/>
          </a:prstGeom>
        </p:spPr>
      </p:pic>
      <p:sp>
        <p:nvSpPr>
          <p:cNvPr id="13" name="Text 8"/>
          <p:cNvSpPr/>
          <p:nvPr/>
        </p:nvSpPr>
        <p:spPr>
          <a:xfrm>
            <a:off x="9654302" y="512052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5213F"/>
                </a:solidFill>
                <a:latin typeface="Roboto Slab" pitchFamily="34" charset="0"/>
                <a:ea typeface="Roboto Slab" pitchFamily="34" charset="-122"/>
                <a:cs typeface="Roboto Slab" pitchFamily="34" charset="-120"/>
              </a:rPr>
              <a:t>8 Queens Problem</a:t>
            </a:r>
            <a:endParaRPr lang="en-US" sz="1950" dirty="0"/>
          </a:p>
        </p:txBody>
      </p:sp>
      <p:sp>
        <p:nvSpPr>
          <p:cNvPr id="14" name="Text 9"/>
          <p:cNvSpPr/>
          <p:nvPr/>
        </p:nvSpPr>
        <p:spPr>
          <a:xfrm>
            <a:off x="9654302" y="5549741"/>
            <a:ext cx="4182308" cy="1587698"/>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Placing eight queens on a chessboard so that no two queens attack each other. This is a classic example of a Constraint Satisfaction Problem (CSP) that can also be tackled with search.</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30568" y="502206"/>
            <a:ext cx="6487358" cy="570667"/>
          </a:xfrm>
          <a:prstGeom prst="rect">
            <a:avLst/>
          </a:prstGeom>
          <a:noFill/>
          <a:ln/>
        </p:spPr>
        <p:txBody>
          <a:bodyPr wrap="none" lIns="0" tIns="0" rIns="0" bIns="0" rtlCol="0" anchor="t"/>
          <a:lstStyle/>
          <a:p>
            <a:pPr algn="l" indent="0" marL="0">
              <a:lnSpc>
                <a:spcPts val="4450"/>
              </a:lnSpc>
              <a:buNone/>
            </a:pPr>
            <a:r>
              <a:rPr lang="en-US" sz="3550" dirty="0">
                <a:solidFill>
                  <a:srgbClr val="3257B8"/>
                </a:solidFill>
                <a:latin typeface="Roboto Slab" pitchFamily="34" charset="0"/>
                <a:ea typeface="Roboto Slab" pitchFamily="34" charset="-122"/>
                <a:cs typeface="Roboto Slab" pitchFamily="34" charset="-120"/>
              </a:rPr>
              <a:t>Uninformed Search Strategies</a:t>
            </a:r>
            <a:endParaRPr lang="en-US" sz="3550" dirty="0"/>
          </a:p>
        </p:txBody>
      </p:sp>
      <p:sp>
        <p:nvSpPr>
          <p:cNvPr id="3" name="Text 1"/>
          <p:cNvSpPr/>
          <p:nvPr/>
        </p:nvSpPr>
        <p:spPr>
          <a:xfrm>
            <a:off x="730568" y="1438156"/>
            <a:ext cx="13169265" cy="584359"/>
          </a:xfrm>
          <a:prstGeom prst="rect">
            <a:avLst/>
          </a:prstGeom>
          <a:noFill/>
          <a:ln/>
        </p:spPr>
        <p:txBody>
          <a:bodyPr wrap="square" lIns="0" tIns="0" rIns="0" bIns="0" rtlCol="0" anchor="t"/>
          <a:lstStyle/>
          <a:p>
            <a:pPr algn="l" indent="0" marL="0">
              <a:lnSpc>
                <a:spcPts val="2300"/>
              </a:lnSpc>
              <a:buNone/>
            </a:pPr>
            <a:r>
              <a:rPr lang="en-US" sz="1400" dirty="0">
                <a:solidFill>
                  <a:srgbClr val="15213F"/>
                </a:solidFill>
                <a:latin typeface="Roboto" pitchFamily="34" charset="0"/>
                <a:ea typeface="Roboto" pitchFamily="34" charset="-122"/>
                <a:cs typeface="Roboto" pitchFamily="34" charset="-120"/>
              </a:rPr>
              <a:t>Uninformed (or blind) search strategies use only the information available in the problem definition. They systematically explore the search space until the goal is found, without using any domain-specific knowledge about the location of the goal.</a:t>
            </a:r>
            <a:endParaRPr lang="en-US" sz="1400" dirty="0"/>
          </a:p>
        </p:txBody>
      </p:sp>
      <p:sp>
        <p:nvSpPr>
          <p:cNvPr id="4" name="Shape 2"/>
          <p:cNvSpPr/>
          <p:nvPr/>
        </p:nvSpPr>
        <p:spPr>
          <a:xfrm>
            <a:off x="730568" y="2227898"/>
            <a:ext cx="410885" cy="410885"/>
          </a:xfrm>
          <a:prstGeom prst="roundRect">
            <a:avLst>
              <a:gd name="adj" fmla="val 6668"/>
            </a:avLst>
          </a:prstGeom>
          <a:solidFill>
            <a:srgbClr val="3257B8"/>
          </a:solidFill>
          <a:ln/>
        </p:spPr>
      </p:sp>
      <p:sp>
        <p:nvSpPr>
          <p:cNvPr id="5" name="Text 3"/>
          <p:cNvSpPr/>
          <p:nvPr/>
        </p:nvSpPr>
        <p:spPr>
          <a:xfrm>
            <a:off x="798969" y="2262068"/>
            <a:ext cx="273963" cy="342424"/>
          </a:xfrm>
          <a:prstGeom prst="rect">
            <a:avLst/>
          </a:prstGeom>
          <a:noFill/>
          <a:ln/>
        </p:spPr>
        <p:txBody>
          <a:bodyPr wrap="none" lIns="0" tIns="0" rIns="0" bIns="0" rtlCol="0" anchor="t"/>
          <a:lstStyle/>
          <a:p>
            <a:pPr algn="ctr" indent="0" marL="0">
              <a:lnSpc>
                <a:spcPts val="2150"/>
              </a:lnSpc>
              <a:buNone/>
            </a:pPr>
            <a:r>
              <a:rPr lang="en-US" sz="2150" dirty="0">
                <a:solidFill>
                  <a:srgbClr val="FFFFFF"/>
                </a:solidFill>
                <a:latin typeface="Roboto Slab" pitchFamily="34" charset="0"/>
                <a:ea typeface="Roboto Slab" pitchFamily="34" charset="-122"/>
                <a:cs typeface="Roboto Slab" pitchFamily="34" charset="-120"/>
              </a:rPr>
              <a:t>1</a:t>
            </a:r>
            <a:endParaRPr lang="en-US" sz="2150" dirty="0"/>
          </a:p>
        </p:txBody>
      </p:sp>
      <p:sp>
        <p:nvSpPr>
          <p:cNvPr id="6" name="Text 4"/>
          <p:cNvSpPr/>
          <p:nvPr/>
        </p:nvSpPr>
        <p:spPr>
          <a:xfrm>
            <a:off x="1324094" y="2290643"/>
            <a:ext cx="2862382" cy="285393"/>
          </a:xfrm>
          <a:prstGeom prst="rect">
            <a:avLst/>
          </a:prstGeom>
          <a:noFill/>
          <a:ln/>
        </p:spPr>
        <p:txBody>
          <a:bodyPr wrap="none" lIns="0" tIns="0" rIns="0" bIns="0" rtlCol="0" anchor="t"/>
          <a:lstStyle/>
          <a:p>
            <a:pPr algn="l" indent="0" marL="0">
              <a:lnSpc>
                <a:spcPts val="2200"/>
              </a:lnSpc>
              <a:buNone/>
            </a:pPr>
            <a:r>
              <a:rPr lang="en-US" sz="1750" dirty="0">
                <a:solidFill>
                  <a:srgbClr val="15213F"/>
                </a:solidFill>
                <a:latin typeface="Roboto Slab" pitchFamily="34" charset="0"/>
                <a:ea typeface="Roboto Slab" pitchFamily="34" charset="-122"/>
                <a:cs typeface="Roboto Slab" pitchFamily="34" charset="-120"/>
              </a:rPr>
              <a:t>Breadth-First Search (BFS)</a:t>
            </a:r>
            <a:endParaRPr lang="en-US" sz="1750" dirty="0"/>
          </a:p>
        </p:txBody>
      </p:sp>
      <p:sp>
        <p:nvSpPr>
          <p:cNvPr id="7" name="Text 5"/>
          <p:cNvSpPr/>
          <p:nvPr/>
        </p:nvSpPr>
        <p:spPr>
          <a:xfrm>
            <a:off x="1324094" y="2685574"/>
            <a:ext cx="12575738" cy="292179"/>
          </a:xfrm>
          <a:prstGeom prst="rect">
            <a:avLst/>
          </a:prstGeom>
          <a:noFill/>
          <a:ln/>
        </p:spPr>
        <p:txBody>
          <a:bodyPr wrap="none" lIns="0" tIns="0" rIns="0" bIns="0" rtlCol="0" anchor="t"/>
          <a:lstStyle/>
          <a:p>
            <a:pPr algn="l" indent="0" marL="0">
              <a:lnSpc>
                <a:spcPts val="2300"/>
              </a:lnSpc>
              <a:buNone/>
            </a:pPr>
            <a:r>
              <a:rPr lang="en-US" sz="1400" dirty="0">
                <a:solidFill>
                  <a:srgbClr val="15213F"/>
                </a:solidFill>
                <a:latin typeface="Roboto" pitchFamily="34" charset="0"/>
                <a:ea typeface="Roboto" pitchFamily="34" charset="-122"/>
                <a:cs typeface="Roboto" pitchFamily="34" charset="-120"/>
              </a:rPr>
              <a:t>Explores all the nodes at one depth level before moving to the next level. </a:t>
            </a:r>
            <a:pPr algn="l" indent="0" marL="0">
              <a:lnSpc>
                <a:spcPts val="2300"/>
              </a:lnSpc>
              <a:buNone/>
            </a:pPr>
            <a:r>
              <a:rPr lang="en-US" sz="1400" b="1" dirty="0">
                <a:solidFill>
                  <a:srgbClr val="15213F"/>
                </a:solidFill>
                <a:latin typeface="Roboto" pitchFamily="34" charset="0"/>
                <a:ea typeface="Roboto" pitchFamily="34" charset="-122"/>
                <a:cs typeface="Roboto" pitchFamily="34" charset="-120"/>
              </a:rPr>
              <a:t>Complete</a:t>
            </a:r>
            <a:pPr algn="l" indent="0" marL="0">
              <a:lnSpc>
                <a:spcPts val="2300"/>
              </a:lnSpc>
              <a:buNone/>
            </a:pPr>
            <a:r>
              <a:rPr lang="en-US" sz="1400" dirty="0">
                <a:solidFill>
                  <a:srgbClr val="15213F"/>
                </a:solidFill>
                <a:latin typeface="Roboto" pitchFamily="34" charset="0"/>
                <a:ea typeface="Roboto" pitchFamily="34" charset="-122"/>
                <a:cs typeface="Roboto" pitchFamily="34" charset="-120"/>
              </a:rPr>
              <a:t> and </a:t>
            </a:r>
            <a:pPr algn="l" indent="0" marL="0">
              <a:lnSpc>
                <a:spcPts val="2300"/>
              </a:lnSpc>
              <a:buNone/>
            </a:pPr>
            <a:r>
              <a:rPr lang="en-US" sz="1400" b="1" dirty="0">
                <a:solidFill>
                  <a:srgbClr val="15213F"/>
                </a:solidFill>
                <a:latin typeface="Roboto" pitchFamily="34" charset="0"/>
                <a:ea typeface="Roboto" pitchFamily="34" charset="-122"/>
                <a:cs typeface="Roboto" pitchFamily="34" charset="-120"/>
              </a:rPr>
              <a:t>Optimal</a:t>
            </a:r>
            <a:pPr algn="l" indent="0" marL="0">
              <a:lnSpc>
                <a:spcPts val="2300"/>
              </a:lnSpc>
              <a:buNone/>
            </a:pPr>
            <a:r>
              <a:rPr lang="en-US" sz="1400" dirty="0">
                <a:solidFill>
                  <a:srgbClr val="15213F"/>
                </a:solidFill>
                <a:latin typeface="Roboto" pitchFamily="34" charset="0"/>
                <a:ea typeface="Roboto" pitchFamily="34" charset="-122"/>
                <a:cs typeface="Roboto" pitchFamily="34" charset="-120"/>
              </a:rPr>
              <a:t> (for unit costs), but high memory use.</a:t>
            </a:r>
            <a:endParaRPr lang="en-US" sz="1400" dirty="0"/>
          </a:p>
        </p:txBody>
      </p:sp>
      <p:sp>
        <p:nvSpPr>
          <p:cNvPr id="8" name="Shape 6"/>
          <p:cNvSpPr/>
          <p:nvPr/>
        </p:nvSpPr>
        <p:spPr>
          <a:xfrm>
            <a:off x="730568" y="3343037"/>
            <a:ext cx="410885" cy="410885"/>
          </a:xfrm>
          <a:prstGeom prst="roundRect">
            <a:avLst>
              <a:gd name="adj" fmla="val 6668"/>
            </a:avLst>
          </a:prstGeom>
          <a:solidFill>
            <a:srgbClr val="3257B8"/>
          </a:solidFill>
          <a:ln/>
        </p:spPr>
      </p:sp>
      <p:sp>
        <p:nvSpPr>
          <p:cNvPr id="9" name="Text 7"/>
          <p:cNvSpPr/>
          <p:nvPr/>
        </p:nvSpPr>
        <p:spPr>
          <a:xfrm>
            <a:off x="798969" y="3377208"/>
            <a:ext cx="273963" cy="342424"/>
          </a:xfrm>
          <a:prstGeom prst="rect">
            <a:avLst/>
          </a:prstGeom>
          <a:noFill/>
          <a:ln/>
        </p:spPr>
        <p:txBody>
          <a:bodyPr wrap="none" lIns="0" tIns="0" rIns="0" bIns="0" rtlCol="0" anchor="t"/>
          <a:lstStyle/>
          <a:p>
            <a:pPr algn="ctr" indent="0" marL="0">
              <a:lnSpc>
                <a:spcPts val="2150"/>
              </a:lnSpc>
              <a:buNone/>
            </a:pPr>
            <a:r>
              <a:rPr lang="en-US" sz="2150" dirty="0">
                <a:solidFill>
                  <a:srgbClr val="FFFFFF"/>
                </a:solidFill>
                <a:latin typeface="Roboto Slab" pitchFamily="34" charset="0"/>
                <a:ea typeface="Roboto Slab" pitchFamily="34" charset="-122"/>
                <a:cs typeface="Roboto Slab" pitchFamily="34" charset="-120"/>
              </a:rPr>
              <a:t>2</a:t>
            </a:r>
            <a:endParaRPr lang="en-US" sz="2150" dirty="0"/>
          </a:p>
        </p:txBody>
      </p:sp>
      <p:sp>
        <p:nvSpPr>
          <p:cNvPr id="10" name="Text 8"/>
          <p:cNvSpPr/>
          <p:nvPr/>
        </p:nvSpPr>
        <p:spPr>
          <a:xfrm>
            <a:off x="1324094" y="3405783"/>
            <a:ext cx="2646759" cy="285393"/>
          </a:xfrm>
          <a:prstGeom prst="rect">
            <a:avLst/>
          </a:prstGeom>
          <a:noFill/>
          <a:ln/>
        </p:spPr>
        <p:txBody>
          <a:bodyPr wrap="none" lIns="0" tIns="0" rIns="0" bIns="0" rtlCol="0" anchor="t"/>
          <a:lstStyle/>
          <a:p>
            <a:pPr algn="l" indent="0" marL="0">
              <a:lnSpc>
                <a:spcPts val="2200"/>
              </a:lnSpc>
              <a:buNone/>
            </a:pPr>
            <a:r>
              <a:rPr lang="en-US" sz="1750" dirty="0">
                <a:solidFill>
                  <a:srgbClr val="15213F"/>
                </a:solidFill>
                <a:latin typeface="Roboto Slab" pitchFamily="34" charset="0"/>
                <a:ea typeface="Roboto Slab" pitchFamily="34" charset="-122"/>
                <a:cs typeface="Roboto Slab" pitchFamily="34" charset="-120"/>
              </a:rPr>
              <a:t>Depth-First Search (DFS)</a:t>
            </a:r>
            <a:endParaRPr lang="en-US" sz="1750" dirty="0"/>
          </a:p>
        </p:txBody>
      </p:sp>
      <p:sp>
        <p:nvSpPr>
          <p:cNvPr id="11" name="Text 9"/>
          <p:cNvSpPr/>
          <p:nvPr/>
        </p:nvSpPr>
        <p:spPr>
          <a:xfrm>
            <a:off x="1324094" y="3800713"/>
            <a:ext cx="12575738" cy="292179"/>
          </a:xfrm>
          <a:prstGeom prst="rect">
            <a:avLst/>
          </a:prstGeom>
          <a:noFill/>
          <a:ln/>
        </p:spPr>
        <p:txBody>
          <a:bodyPr wrap="none" lIns="0" tIns="0" rIns="0" bIns="0" rtlCol="0" anchor="t"/>
          <a:lstStyle/>
          <a:p>
            <a:pPr algn="l" indent="0" marL="0">
              <a:lnSpc>
                <a:spcPts val="2300"/>
              </a:lnSpc>
              <a:buNone/>
            </a:pPr>
            <a:r>
              <a:rPr lang="en-US" sz="1400" dirty="0">
                <a:solidFill>
                  <a:srgbClr val="15213F"/>
                </a:solidFill>
                <a:latin typeface="Roboto" pitchFamily="34" charset="0"/>
                <a:ea typeface="Roboto" pitchFamily="34" charset="-122"/>
                <a:cs typeface="Roboto" pitchFamily="34" charset="-120"/>
              </a:rPr>
              <a:t>Always expands the deepest node in the current frontier. Low memory requirements, but neither complete nor optimal.</a:t>
            </a:r>
            <a:endParaRPr lang="en-US" sz="1400" dirty="0"/>
          </a:p>
        </p:txBody>
      </p:sp>
      <p:sp>
        <p:nvSpPr>
          <p:cNvPr id="12" name="Shape 10"/>
          <p:cNvSpPr/>
          <p:nvPr/>
        </p:nvSpPr>
        <p:spPr>
          <a:xfrm>
            <a:off x="730568" y="4458176"/>
            <a:ext cx="410885" cy="410885"/>
          </a:xfrm>
          <a:prstGeom prst="roundRect">
            <a:avLst>
              <a:gd name="adj" fmla="val 6668"/>
            </a:avLst>
          </a:prstGeom>
          <a:solidFill>
            <a:srgbClr val="3257B8"/>
          </a:solidFill>
          <a:ln/>
        </p:spPr>
      </p:sp>
      <p:sp>
        <p:nvSpPr>
          <p:cNvPr id="13" name="Text 11"/>
          <p:cNvSpPr/>
          <p:nvPr/>
        </p:nvSpPr>
        <p:spPr>
          <a:xfrm>
            <a:off x="798969" y="4492347"/>
            <a:ext cx="273963" cy="342424"/>
          </a:xfrm>
          <a:prstGeom prst="rect">
            <a:avLst/>
          </a:prstGeom>
          <a:noFill/>
          <a:ln/>
        </p:spPr>
        <p:txBody>
          <a:bodyPr wrap="none" lIns="0" tIns="0" rIns="0" bIns="0" rtlCol="0" anchor="t"/>
          <a:lstStyle/>
          <a:p>
            <a:pPr algn="ctr" indent="0" marL="0">
              <a:lnSpc>
                <a:spcPts val="2150"/>
              </a:lnSpc>
              <a:buNone/>
            </a:pPr>
            <a:r>
              <a:rPr lang="en-US" sz="2150" dirty="0">
                <a:solidFill>
                  <a:srgbClr val="FFFFFF"/>
                </a:solidFill>
                <a:latin typeface="Roboto Slab" pitchFamily="34" charset="0"/>
                <a:ea typeface="Roboto Slab" pitchFamily="34" charset="-122"/>
                <a:cs typeface="Roboto Slab" pitchFamily="34" charset="-120"/>
              </a:rPr>
              <a:t>3</a:t>
            </a:r>
            <a:endParaRPr lang="en-US" sz="2150" dirty="0"/>
          </a:p>
        </p:txBody>
      </p:sp>
      <p:sp>
        <p:nvSpPr>
          <p:cNvPr id="14" name="Text 12"/>
          <p:cNvSpPr/>
          <p:nvPr/>
        </p:nvSpPr>
        <p:spPr>
          <a:xfrm>
            <a:off x="1324094" y="4520922"/>
            <a:ext cx="2976443" cy="285393"/>
          </a:xfrm>
          <a:prstGeom prst="rect">
            <a:avLst/>
          </a:prstGeom>
          <a:noFill/>
          <a:ln/>
        </p:spPr>
        <p:txBody>
          <a:bodyPr wrap="none" lIns="0" tIns="0" rIns="0" bIns="0" rtlCol="0" anchor="t"/>
          <a:lstStyle/>
          <a:p>
            <a:pPr algn="l" indent="0" marL="0">
              <a:lnSpc>
                <a:spcPts val="2200"/>
              </a:lnSpc>
              <a:buNone/>
            </a:pPr>
            <a:r>
              <a:rPr lang="en-US" sz="1750" dirty="0">
                <a:solidFill>
                  <a:srgbClr val="15213F"/>
                </a:solidFill>
                <a:latin typeface="Roboto Slab" pitchFamily="34" charset="0"/>
                <a:ea typeface="Roboto Slab" pitchFamily="34" charset="-122"/>
                <a:cs typeface="Roboto Slab" pitchFamily="34" charset="-120"/>
              </a:rPr>
              <a:t>Depth-Limited Search (DLS)</a:t>
            </a:r>
            <a:endParaRPr lang="en-US" sz="1750" dirty="0"/>
          </a:p>
        </p:txBody>
      </p:sp>
      <p:sp>
        <p:nvSpPr>
          <p:cNvPr id="15" name="Text 13"/>
          <p:cNvSpPr/>
          <p:nvPr/>
        </p:nvSpPr>
        <p:spPr>
          <a:xfrm>
            <a:off x="1324094" y="4915853"/>
            <a:ext cx="12575738" cy="292179"/>
          </a:xfrm>
          <a:prstGeom prst="rect">
            <a:avLst/>
          </a:prstGeom>
          <a:noFill/>
          <a:ln/>
        </p:spPr>
        <p:txBody>
          <a:bodyPr wrap="none" lIns="0" tIns="0" rIns="0" bIns="0" rtlCol="0" anchor="t"/>
          <a:lstStyle/>
          <a:p>
            <a:pPr algn="l" indent="0" marL="0">
              <a:lnSpc>
                <a:spcPts val="2300"/>
              </a:lnSpc>
              <a:buNone/>
            </a:pPr>
            <a:r>
              <a:rPr lang="en-US" sz="1400" dirty="0">
                <a:solidFill>
                  <a:srgbClr val="15213F"/>
                </a:solidFill>
                <a:latin typeface="Roboto" pitchFamily="34" charset="0"/>
                <a:ea typeface="Roboto" pitchFamily="34" charset="-122"/>
                <a:cs typeface="Roboto" pitchFamily="34" charset="-120"/>
              </a:rPr>
              <a:t>DFS with a predefined depth limit L. Solves the incompleteness of DFS but sacrifices optimality if L is too low.</a:t>
            </a:r>
            <a:endParaRPr lang="en-US" sz="1400" dirty="0"/>
          </a:p>
        </p:txBody>
      </p:sp>
      <p:sp>
        <p:nvSpPr>
          <p:cNvPr id="16" name="Shape 14"/>
          <p:cNvSpPr/>
          <p:nvPr/>
        </p:nvSpPr>
        <p:spPr>
          <a:xfrm>
            <a:off x="730568" y="5573316"/>
            <a:ext cx="410885" cy="410885"/>
          </a:xfrm>
          <a:prstGeom prst="roundRect">
            <a:avLst>
              <a:gd name="adj" fmla="val 6668"/>
            </a:avLst>
          </a:prstGeom>
          <a:solidFill>
            <a:srgbClr val="3257B8"/>
          </a:solidFill>
          <a:ln/>
        </p:spPr>
      </p:sp>
      <p:sp>
        <p:nvSpPr>
          <p:cNvPr id="17" name="Text 15"/>
          <p:cNvSpPr/>
          <p:nvPr/>
        </p:nvSpPr>
        <p:spPr>
          <a:xfrm>
            <a:off x="798969" y="5607487"/>
            <a:ext cx="273963" cy="342424"/>
          </a:xfrm>
          <a:prstGeom prst="rect">
            <a:avLst/>
          </a:prstGeom>
          <a:noFill/>
          <a:ln/>
        </p:spPr>
        <p:txBody>
          <a:bodyPr wrap="none" lIns="0" tIns="0" rIns="0" bIns="0" rtlCol="0" anchor="t"/>
          <a:lstStyle/>
          <a:p>
            <a:pPr algn="ctr" indent="0" marL="0">
              <a:lnSpc>
                <a:spcPts val="2150"/>
              </a:lnSpc>
              <a:buNone/>
            </a:pPr>
            <a:r>
              <a:rPr lang="en-US" sz="2150" dirty="0">
                <a:solidFill>
                  <a:srgbClr val="FFFFFF"/>
                </a:solidFill>
                <a:latin typeface="Roboto Slab" pitchFamily="34" charset="0"/>
                <a:ea typeface="Roboto Slab" pitchFamily="34" charset="-122"/>
                <a:cs typeface="Roboto Slab" pitchFamily="34" charset="-120"/>
              </a:rPr>
              <a:t>4</a:t>
            </a:r>
            <a:endParaRPr lang="en-US" sz="2150" dirty="0"/>
          </a:p>
        </p:txBody>
      </p:sp>
      <p:sp>
        <p:nvSpPr>
          <p:cNvPr id="18" name="Text 16"/>
          <p:cNvSpPr/>
          <p:nvPr/>
        </p:nvSpPr>
        <p:spPr>
          <a:xfrm>
            <a:off x="1324094" y="5636062"/>
            <a:ext cx="3462218" cy="285393"/>
          </a:xfrm>
          <a:prstGeom prst="rect">
            <a:avLst/>
          </a:prstGeom>
          <a:noFill/>
          <a:ln/>
        </p:spPr>
        <p:txBody>
          <a:bodyPr wrap="none" lIns="0" tIns="0" rIns="0" bIns="0" rtlCol="0" anchor="t"/>
          <a:lstStyle/>
          <a:p>
            <a:pPr algn="l" indent="0" marL="0">
              <a:lnSpc>
                <a:spcPts val="2200"/>
              </a:lnSpc>
              <a:buNone/>
            </a:pPr>
            <a:r>
              <a:rPr lang="en-US" sz="1750" dirty="0">
                <a:solidFill>
                  <a:srgbClr val="15213F"/>
                </a:solidFill>
                <a:latin typeface="Roboto Slab" pitchFamily="34" charset="0"/>
                <a:ea typeface="Roboto Slab" pitchFamily="34" charset="-122"/>
                <a:cs typeface="Roboto Slab" pitchFamily="34" charset="-120"/>
              </a:rPr>
              <a:t>Iterative Deepening Search (IDS)</a:t>
            </a:r>
            <a:endParaRPr lang="en-US" sz="1750" dirty="0"/>
          </a:p>
        </p:txBody>
      </p:sp>
      <p:sp>
        <p:nvSpPr>
          <p:cNvPr id="19" name="Text 17"/>
          <p:cNvSpPr/>
          <p:nvPr/>
        </p:nvSpPr>
        <p:spPr>
          <a:xfrm>
            <a:off x="1324094" y="6030992"/>
            <a:ext cx="12575738" cy="292179"/>
          </a:xfrm>
          <a:prstGeom prst="rect">
            <a:avLst/>
          </a:prstGeom>
          <a:noFill/>
          <a:ln/>
        </p:spPr>
        <p:txBody>
          <a:bodyPr wrap="none" lIns="0" tIns="0" rIns="0" bIns="0" rtlCol="0" anchor="t"/>
          <a:lstStyle/>
          <a:p>
            <a:pPr algn="l" indent="0" marL="0">
              <a:lnSpc>
                <a:spcPts val="2300"/>
              </a:lnSpc>
              <a:buNone/>
            </a:pPr>
            <a:r>
              <a:rPr lang="en-US" sz="1400" dirty="0">
                <a:solidFill>
                  <a:srgbClr val="15213F"/>
                </a:solidFill>
                <a:latin typeface="Roboto" pitchFamily="34" charset="0"/>
                <a:ea typeface="Roboto" pitchFamily="34" charset="-122"/>
                <a:cs typeface="Roboto" pitchFamily="34" charset="-120"/>
              </a:rPr>
              <a:t>Repeatedly applies DLS, incrementing the limit L each time. Combines the optimality and completeness of BFS with the low memory overhead of DFS.</a:t>
            </a:r>
            <a:endParaRPr lang="en-US" sz="1400" dirty="0"/>
          </a:p>
        </p:txBody>
      </p:sp>
      <p:sp>
        <p:nvSpPr>
          <p:cNvPr id="20" name="Shape 18"/>
          <p:cNvSpPr/>
          <p:nvPr/>
        </p:nvSpPr>
        <p:spPr>
          <a:xfrm>
            <a:off x="730568" y="6688455"/>
            <a:ext cx="410885" cy="410885"/>
          </a:xfrm>
          <a:prstGeom prst="roundRect">
            <a:avLst>
              <a:gd name="adj" fmla="val 6668"/>
            </a:avLst>
          </a:prstGeom>
          <a:solidFill>
            <a:srgbClr val="3257B8"/>
          </a:solidFill>
          <a:ln/>
        </p:spPr>
      </p:sp>
      <p:sp>
        <p:nvSpPr>
          <p:cNvPr id="21" name="Text 19"/>
          <p:cNvSpPr/>
          <p:nvPr/>
        </p:nvSpPr>
        <p:spPr>
          <a:xfrm>
            <a:off x="798969" y="6722626"/>
            <a:ext cx="273963" cy="342424"/>
          </a:xfrm>
          <a:prstGeom prst="rect">
            <a:avLst/>
          </a:prstGeom>
          <a:noFill/>
          <a:ln/>
        </p:spPr>
        <p:txBody>
          <a:bodyPr wrap="none" lIns="0" tIns="0" rIns="0" bIns="0" rtlCol="0" anchor="t"/>
          <a:lstStyle/>
          <a:p>
            <a:pPr algn="ctr" indent="0" marL="0">
              <a:lnSpc>
                <a:spcPts val="2150"/>
              </a:lnSpc>
              <a:buNone/>
            </a:pPr>
            <a:r>
              <a:rPr lang="en-US" sz="2150" dirty="0">
                <a:solidFill>
                  <a:srgbClr val="FFFFFF"/>
                </a:solidFill>
                <a:latin typeface="Roboto Slab" pitchFamily="34" charset="0"/>
                <a:ea typeface="Roboto Slab" pitchFamily="34" charset="-122"/>
                <a:cs typeface="Roboto Slab" pitchFamily="34" charset="-120"/>
              </a:rPr>
              <a:t>5</a:t>
            </a:r>
            <a:endParaRPr lang="en-US" sz="2150" dirty="0"/>
          </a:p>
        </p:txBody>
      </p:sp>
      <p:sp>
        <p:nvSpPr>
          <p:cNvPr id="22" name="Text 20"/>
          <p:cNvSpPr/>
          <p:nvPr/>
        </p:nvSpPr>
        <p:spPr>
          <a:xfrm>
            <a:off x="1324094" y="6751201"/>
            <a:ext cx="2283262" cy="285393"/>
          </a:xfrm>
          <a:prstGeom prst="rect">
            <a:avLst/>
          </a:prstGeom>
          <a:noFill/>
          <a:ln/>
        </p:spPr>
        <p:txBody>
          <a:bodyPr wrap="none" lIns="0" tIns="0" rIns="0" bIns="0" rtlCol="0" anchor="t"/>
          <a:lstStyle/>
          <a:p>
            <a:pPr algn="l" indent="0" marL="0">
              <a:lnSpc>
                <a:spcPts val="2200"/>
              </a:lnSpc>
              <a:buNone/>
            </a:pPr>
            <a:r>
              <a:rPr lang="en-US" sz="1750" dirty="0">
                <a:solidFill>
                  <a:srgbClr val="15213F"/>
                </a:solidFill>
                <a:latin typeface="Roboto Slab" pitchFamily="34" charset="0"/>
                <a:ea typeface="Roboto Slab" pitchFamily="34" charset="-122"/>
                <a:cs typeface="Roboto Slab" pitchFamily="34" charset="-120"/>
              </a:rPr>
              <a:t>Bidirectional Search</a:t>
            </a:r>
            <a:endParaRPr lang="en-US" sz="1750" dirty="0"/>
          </a:p>
        </p:txBody>
      </p:sp>
      <p:sp>
        <p:nvSpPr>
          <p:cNvPr id="23" name="Text 21"/>
          <p:cNvSpPr/>
          <p:nvPr/>
        </p:nvSpPr>
        <p:spPr>
          <a:xfrm>
            <a:off x="1324094" y="7146131"/>
            <a:ext cx="12575738" cy="584359"/>
          </a:xfrm>
          <a:prstGeom prst="rect">
            <a:avLst/>
          </a:prstGeom>
          <a:noFill/>
          <a:ln/>
        </p:spPr>
        <p:txBody>
          <a:bodyPr wrap="square" lIns="0" tIns="0" rIns="0" bIns="0" rtlCol="0" anchor="t"/>
          <a:lstStyle/>
          <a:p>
            <a:pPr algn="l" indent="0" marL="0">
              <a:lnSpc>
                <a:spcPts val="2300"/>
              </a:lnSpc>
              <a:buNone/>
            </a:pPr>
            <a:r>
              <a:rPr lang="en-US" sz="1400" dirty="0">
                <a:solidFill>
                  <a:srgbClr val="15213F"/>
                </a:solidFill>
                <a:latin typeface="Roboto" pitchFamily="34" charset="0"/>
                <a:ea typeface="Roboto" pitchFamily="34" charset="-122"/>
                <a:cs typeface="Roboto" pitchFamily="34" charset="-120"/>
              </a:rPr>
              <a:t>Runs two simultaneous searches: one forward from the initial state and one backward from the goal state, meeting in the middle. Can significantly reduce time complexity.</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33425" y="504230"/>
            <a:ext cx="9866948" cy="572929"/>
          </a:xfrm>
          <a:prstGeom prst="rect">
            <a:avLst/>
          </a:prstGeom>
          <a:noFill/>
          <a:ln/>
        </p:spPr>
        <p:txBody>
          <a:bodyPr wrap="none" lIns="0" tIns="0" rIns="0" bIns="0" rtlCol="0" anchor="t"/>
          <a:lstStyle/>
          <a:p>
            <a:pPr algn="l" indent="0" marL="0">
              <a:lnSpc>
                <a:spcPts val="4500"/>
              </a:lnSpc>
              <a:buNone/>
            </a:pPr>
            <a:r>
              <a:rPr lang="en-US" sz="3600" dirty="0">
                <a:solidFill>
                  <a:srgbClr val="3257B8"/>
                </a:solidFill>
                <a:latin typeface="Roboto Slab" pitchFamily="34" charset="0"/>
                <a:ea typeface="Roboto Slab" pitchFamily="34" charset="-122"/>
                <a:cs typeface="Roboto Slab" pitchFamily="34" charset="-120"/>
              </a:rPr>
              <a:t>Informed Search Strategies (Heuristic Search)</a:t>
            </a:r>
            <a:endParaRPr lang="en-US" sz="3600" dirty="0"/>
          </a:p>
        </p:txBody>
      </p:sp>
      <p:sp>
        <p:nvSpPr>
          <p:cNvPr id="3" name="Text 1"/>
          <p:cNvSpPr/>
          <p:nvPr/>
        </p:nvSpPr>
        <p:spPr>
          <a:xfrm>
            <a:off x="733425" y="1443871"/>
            <a:ext cx="13163550" cy="586740"/>
          </a:xfrm>
          <a:prstGeom prst="rect">
            <a:avLst/>
          </a:prstGeom>
          <a:noFill/>
          <a:ln/>
        </p:spPr>
        <p:txBody>
          <a:bodyPr wrap="square" lIns="0" tIns="0" rIns="0" bIns="0" rtlCol="0" anchor="t"/>
          <a:lstStyle/>
          <a:p>
            <a:pPr algn="l" indent="0" marL="0">
              <a:lnSpc>
                <a:spcPts val="2300"/>
              </a:lnSpc>
              <a:buNone/>
            </a:pPr>
            <a:r>
              <a:rPr lang="en-US" sz="1400" dirty="0">
                <a:solidFill>
                  <a:srgbClr val="15213F"/>
                </a:solidFill>
                <a:latin typeface="Roboto" pitchFamily="34" charset="0"/>
                <a:ea typeface="Roboto" pitchFamily="34" charset="-122"/>
                <a:cs typeface="Roboto" pitchFamily="34" charset="-120"/>
              </a:rPr>
              <a:t>Informed search strategies leverage domain-specific knowledge (heuristics) to guide the search process, making them dramatically more efficient than uninformed methods for large search spaces.</a:t>
            </a:r>
            <a:endParaRPr lang="en-US" sz="1400" dirty="0"/>
          </a:p>
        </p:txBody>
      </p:sp>
      <p:sp>
        <p:nvSpPr>
          <p:cNvPr id="4" name="Shape 2"/>
          <p:cNvSpPr/>
          <p:nvPr/>
        </p:nvSpPr>
        <p:spPr>
          <a:xfrm>
            <a:off x="733425" y="2511862"/>
            <a:ext cx="4265533" cy="2821305"/>
          </a:xfrm>
          <a:prstGeom prst="roundRect">
            <a:avLst>
              <a:gd name="adj" fmla="val 3889"/>
            </a:avLst>
          </a:prstGeom>
          <a:solidFill>
            <a:srgbClr val="FBFCFE"/>
          </a:solidFill>
          <a:ln/>
        </p:spPr>
      </p:sp>
      <p:pic>
        <p:nvPicPr>
          <p:cNvPr id="5" name="Image 0" descr="preencoded.png">    </p:cNvPr>
          <p:cNvPicPr>
            <a:picLocks noChangeAspect="1"/>
          </p:cNvPicPr>
          <p:nvPr/>
        </p:nvPicPr>
        <p:blipFill>
          <a:blip r:embed="rId1"/>
          <a:stretch>
            <a:fillRect/>
          </a:stretch>
        </p:blipFill>
        <p:spPr>
          <a:xfrm>
            <a:off x="733425" y="2489002"/>
            <a:ext cx="4265533" cy="91440"/>
          </a:xfrm>
          <a:prstGeom prst="rect">
            <a:avLst/>
          </a:prstGeom>
        </p:spPr>
      </p:pic>
      <p:pic>
        <p:nvPicPr>
          <p:cNvPr id="6" name="Image 1" descr="preencoded.png">    </p:cNvPr>
          <p:cNvPicPr>
            <a:picLocks noChangeAspect="1"/>
          </p:cNvPicPr>
          <p:nvPr/>
        </p:nvPicPr>
        <p:blipFill>
          <a:blip r:embed="rId2"/>
          <a:stretch>
            <a:fillRect/>
          </a:stretch>
        </p:blipFill>
        <p:spPr>
          <a:xfrm>
            <a:off x="2591157" y="2236827"/>
            <a:ext cx="550069" cy="550069"/>
          </a:xfrm>
          <a:prstGeom prst="rect">
            <a:avLst/>
          </a:prstGeom>
        </p:spPr>
      </p:pic>
      <p:pic>
        <p:nvPicPr>
          <p:cNvPr id="7" name="Image 2"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56178" y="2401848"/>
            <a:ext cx="220028" cy="220028"/>
          </a:xfrm>
          <a:prstGeom prst="rect">
            <a:avLst/>
          </a:prstGeom>
        </p:spPr>
      </p:pic>
      <p:sp>
        <p:nvSpPr>
          <p:cNvPr id="8" name="Text 3"/>
          <p:cNvSpPr/>
          <p:nvPr/>
        </p:nvSpPr>
        <p:spPr>
          <a:xfrm>
            <a:off x="939641" y="2970252"/>
            <a:ext cx="2665452" cy="286464"/>
          </a:xfrm>
          <a:prstGeom prst="rect">
            <a:avLst/>
          </a:prstGeom>
          <a:noFill/>
          <a:ln/>
        </p:spPr>
        <p:txBody>
          <a:bodyPr wrap="none" lIns="0" tIns="0" rIns="0" bIns="0" rtlCol="0" anchor="t"/>
          <a:lstStyle/>
          <a:p>
            <a:pPr algn="l" indent="0" marL="0">
              <a:lnSpc>
                <a:spcPts val="2250"/>
              </a:lnSpc>
              <a:buNone/>
            </a:pPr>
            <a:r>
              <a:rPr lang="en-US" sz="1800" dirty="0">
                <a:solidFill>
                  <a:srgbClr val="15213F"/>
                </a:solidFill>
                <a:latin typeface="Roboto Slab" pitchFamily="34" charset="0"/>
                <a:ea typeface="Roboto Slab" pitchFamily="34" charset="-122"/>
                <a:cs typeface="Roboto Slab" pitchFamily="34" charset="-120"/>
              </a:rPr>
              <a:t>Greedy Best-First Search</a:t>
            </a:r>
            <a:endParaRPr lang="en-US" sz="1800" dirty="0"/>
          </a:p>
        </p:txBody>
      </p:sp>
      <p:sp>
        <p:nvSpPr>
          <p:cNvPr id="9" name="Text 4"/>
          <p:cNvSpPr/>
          <p:nvPr/>
        </p:nvSpPr>
        <p:spPr>
          <a:xfrm>
            <a:off x="939641" y="3366730"/>
            <a:ext cx="3853101" cy="880110"/>
          </a:xfrm>
          <a:prstGeom prst="rect">
            <a:avLst/>
          </a:prstGeom>
          <a:noFill/>
          <a:ln/>
        </p:spPr>
        <p:txBody>
          <a:bodyPr wrap="square" lIns="0" tIns="0" rIns="0" bIns="0" rtlCol="0" anchor="t"/>
          <a:lstStyle/>
          <a:p>
            <a:pPr algn="l" indent="0" marL="0">
              <a:lnSpc>
                <a:spcPts val="2300"/>
              </a:lnSpc>
              <a:buNone/>
            </a:pPr>
            <a:r>
              <a:rPr lang="en-US" sz="1400" dirty="0">
                <a:solidFill>
                  <a:srgbClr val="15213F"/>
                </a:solidFill>
                <a:latin typeface="Roboto" pitchFamily="34" charset="0"/>
                <a:ea typeface="Roboto" pitchFamily="34" charset="-122"/>
                <a:cs typeface="Roboto" pitchFamily="34" charset="-120"/>
              </a:rPr>
              <a:t>Expands the node that appears closest to the goal, as estimated by a heuristic function </a:t>
            </a:r>
            <a:pPr algn="l" indent="0" marL="0">
              <a:lnSpc>
                <a:spcPts val="2300"/>
              </a:lnSpc>
              <a:buNone/>
            </a:pPr>
            <a:r>
              <a:rPr lang="en-US" sz="1400" i="1" dirty="0">
                <a:solidFill>
                  <a:srgbClr val="15213F"/>
                </a:solidFill>
                <a:latin typeface="Roboto" pitchFamily="34" charset="0"/>
                <a:ea typeface="Roboto" pitchFamily="34" charset="-122"/>
                <a:cs typeface="Roboto" pitchFamily="34" charset="-120"/>
              </a:rPr>
              <a:t>h(n)</a:t>
            </a:r>
            <a:pPr algn="l" indent="0" marL="0">
              <a:lnSpc>
                <a:spcPts val="2300"/>
              </a:lnSpc>
              <a:buNone/>
            </a:pPr>
            <a:r>
              <a:rPr lang="en-US" sz="1400" dirty="0">
                <a:solidFill>
                  <a:srgbClr val="15213F"/>
                </a:solidFill>
                <a:latin typeface="Roboto" pitchFamily="34" charset="0"/>
                <a:ea typeface="Roboto" pitchFamily="34" charset="-122"/>
                <a:cs typeface="Roboto" pitchFamily="34" charset="-120"/>
              </a:rPr>
              <a:t>. Fast but neither optimal nor complete.</a:t>
            </a:r>
            <a:endParaRPr lang="en-US" sz="1400" dirty="0"/>
          </a:p>
        </p:txBody>
      </p:sp>
      <p:sp>
        <p:nvSpPr>
          <p:cNvPr id="10" name="Shape 5"/>
          <p:cNvSpPr/>
          <p:nvPr/>
        </p:nvSpPr>
        <p:spPr>
          <a:xfrm>
            <a:off x="5182314" y="2511862"/>
            <a:ext cx="4265652" cy="2821305"/>
          </a:xfrm>
          <a:prstGeom prst="roundRect">
            <a:avLst>
              <a:gd name="adj" fmla="val 3889"/>
            </a:avLst>
          </a:prstGeom>
          <a:solidFill>
            <a:srgbClr val="FBFCFE"/>
          </a:solidFill>
          <a:ln/>
        </p:spPr>
      </p:sp>
      <p:pic>
        <p:nvPicPr>
          <p:cNvPr id="11" name="Image 3" descr="preencoded.png">    </p:cNvPr>
          <p:cNvPicPr>
            <a:picLocks noChangeAspect="1"/>
          </p:cNvPicPr>
          <p:nvPr/>
        </p:nvPicPr>
        <p:blipFill>
          <a:blip r:embed="rId5"/>
          <a:stretch>
            <a:fillRect/>
          </a:stretch>
        </p:blipFill>
        <p:spPr>
          <a:xfrm>
            <a:off x="5182314" y="2489002"/>
            <a:ext cx="4265652" cy="91440"/>
          </a:xfrm>
          <a:prstGeom prst="rect">
            <a:avLst/>
          </a:prstGeom>
        </p:spPr>
      </p:pic>
      <p:pic>
        <p:nvPicPr>
          <p:cNvPr id="12" name="Image 4" descr="preencoded.png">    </p:cNvPr>
          <p:cNvPicPr>
            <a:picLocks noChangeAspect="1"/>
          </p:cNvPicPr>
          <p:nvPr/>
        </p:nvPicPr>
        <p:blipFill>
          <a:blip r:embed="rId6"/>
          <a:stretch>
            <a:fillRect/>
          </a:stretch>
        </p:blipFill>
        <p:spPr>
          <a:xfrm>
            <a:off x="7040047" y="2236827"/>
            <a:ext cx="550069" cy="550069"/>
          </a:xfrm>
          <a:prstGeom prst="rect">
            <a:avLst/>
          </a:prstGeom>
        </p:spPr>
      </p:pic>
      <p:pic>
        <p:nvPicPr>
          <p:cNvPr id="13" name="Image 5"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05067" y="2401848"/>
            <a:ext cx="220028" cy="220028"/>
          </a:xfrm>
          <a:prstGeom prst="rect">
            <a:avLst/>
          </a:prstGeom>
        </p:spPr>
      </p:pic>
      <p:sp>
        <p:nvSpPr>
          <p:cNvPr id="14" name="Text 6"/>
          <p:cNvSpPr/>
          <p:nvPr/>
        </p:nvSpPr>
        <p:spPr>
          <a:xfrm>
            <a:off x="5388531" y="2970252"/>
            <a:ext cx="2291953" cy="286464"/>
          </a:xfrm>
          <a:prstGeom prst="rect">
            <a:avLst/>
          </a:prstGeom>
          <a:noFill/>
          <a:ln/>
        </p:spPr>
        <p:txBody>
          <a:bodyPr wrap="none" lIns="0" tIns="0" rIns="0" bIns="0" rtlCol="0" anchor="t"/>
          <a:lstStyle/>
          <a:p>
            <a:pPr algn="l" indent="0" marL="0">
              <a:lnSpc>
                <a:spcPts val="2250"/>
              </a:lnSpc>
              <a:buNone/>
            </a:pPr>
            <a:r>
              <a:rPr lang="en-US" sz="1800" dirty="0">
                <a:solidFill>
                  <a:srgbClr val="15213F"/>
                </a:solidFill>
                <a:latin typeface="Roboto Slab" pitchFamily="34" charset="0"/>
                <a:ea typeface="Roboto Slab" pitchFamily="34" charset="-122"/>
                <a:cs typeface="Roboto Slab" pitchFamily="34" charset="-120"/>
              </a:rPr>
              <a:t>A* Algorithm</a:t>
            </a:r>
            <a:endParaRPr lang="en-US" sz="1800" dirty="0"/>
          </a:p>
        </p:txBody>
      </p:sp>
      <p:sp>
        <p:nvSpPr>
          <p:cNvPr id="15" name="Text 7"/>
          <p:cNvSpPr/>
          <p:nvPr/>
        </p:nvSpPr>
        <p:spPr>
          <a:xfrm>
            <a:off x="5388531" y="3366730"/>
            <a:ext cx="3853220" cy="1760220"/>
          </a:xfrm>
          <a:prstGeom prst="rect">
            <a:avLst/>
          </a:prstGeom>
          <a:noFill/>
          <a:ln/>
        </p:spPr>
        <p:txBody>
          <a:bodyPr wrap="square" lIns="0" tIns="0" rIns="0" bIns="0" rtlCol="0" anchor="t"/>
          <a:lstStyle/>
          <a:p>
            <a:pPr algn="l" indent="0" marL="0">
              <a:lnSpc>
                <a:spcPts val="2300"/>
              </a:lnSpc>
              <a:buNone/>
            </a:pPr>
            <a:r>
              <a:rPr lang="en-US" sz="1400" dirty="0">
                <a:solidFill>
                  <a:srgbClr val="15213F"/>
                </a:solidFill>
                <a:latin typeface="Roboto" pitchFamily="34" charset="0"/>
                <a:ea typeface="Roboto" pitchFamily="34" charset="-122"/>
                <a:cs typeface="Roboto" pitchFamily="34" charset="-120"/>
              </a:rPr>
              <a:t>The most widely used search algorithm. Evaluates nodes using </a:t>
            </a:r>
            <a:pPr algn="l" indent="0" marL="0">
              <a:lnSpc>
                <a:spcPts val="2300"/>
              </a:lnSpc>
              <a:buNone/>
            </a:pPr>
            <a:r>
              <a:rPr lang="en-US" sz="1400" i="1" dirty="0">
                <a:solidFill>
                  <a:srgbClr val="15213F"/>
                </a:solidFill>
                <a:latin typeface="Roboto" pitchFamily="34" charset="0"/>
                <a:ea typeface="Roboto" pitchFamily="34" charset="-122"/>
                <a:cs typeface="Roboto" pitchFamily="34" charset="-120"/>
              </a:rPr>
              <a:t>f(n) = g(n) + h(n)</a:t>
            </a:r>
            <a:pPr algn="l" indent="0" marL="0">
              <a:lnSpc>
                <a:spcPts val="2300"/>
              </a:lnSpc>
              <a:buNone/>
            </a:pPr>
            <a:r>
              <a:rPr lang="en-US" sz="1400" dirty="0">
                <a:solidFill>
                  <a:srgbClr val="15213F"/>
                </a:solidFill>
                <a:latin typeface="Roboto" pitchFamily="34" charset="0"/>
                <a:ea typeface="Roboto" pitchFamily="34" charset="-122"/>
                <a:cs typeface="Roboto" pitchFamily="34" charset="-120"/>
              </a:rPr>
              <a:t>, where </a:t>
            </a:r>
            <a:pPr algn="l" indent="0" marL="0">
              <a:lnSpc>
                <a:spcPts val="2300"/>
              </a:lnSpc>
              <a:buNone/>
            </a:pPr>
            <a:r>
              <a:rPr lang="en-US" sz="1400" i="1" dirty="0">
                <a:solidFill>
                  <a:srgbClr val="15213F"/>
                </a:solidFill>
                <a:latin typeface="Roboto" pitchFamily="34" charset="0"/>
                <a:ea typeface="Roboto" pitchFamily="34" charset="-122"/>
                <a:cs typeface="Roboto" pitchFamily="34" charset="-120"/>
              </a:rPr>
              <a:t>g(n)</a:t>
            </a:r>
            <a:pPr algn="l" indent="0" marL="0">
              <a:lnSpc>
                <a:spcPts val="2300"/>
              </a:lnSpc>
              <a:buNone/>
            </a:pPr>
            <a:r>
              <a:rPr lang="en-US" sz="1400" dirty="0">
                <a:solidFill>
                  <a:srgbClr val="15213F"/>
                </a:solidFill>
                <a:latin typeface="Roboto" pitchFamily="34" charset="0"/>
                <a:ea typeface="Roboto" pitchFamily="34" charset="-122"/>
                <a:cs typeface="Roboto" pitchFamily="34" charset="-120"/>
              </a:rPr>
              <a:t> is the cost to reach the node and </a:t>
            </a:r>
            <a:pPr algn="l" indent="0" marL="0">
              <a:lnSpc>
                <a:spcPts val="2300"/>
              </a:lnSpc>
              <a:buNone/>
            </a:pPr>
            <a:r>
              <a:rPr lang="en-US" sz="1400" i="1" dirty="0">
                <a:solidFill>
                  <a:srgbClr val="15213F"/>
                </a:solidFill>
                <a:latin typeface="Roboto" pitchFamily="34" charset="0"/>
                <a:ea typeface="Roboto" pitchFamily="34" charset="-122"/>
                <a:cs typeface="Roboto" pitchFamily="34" charset="-120"/>
              </a:rPr>
              <a:t>h(n)</a:t>
            </a:r>
            <a:pPr algn="l" indent="0" marL="0">
              <a:lnSpc>
                <a:spcPts val="2300"/>
              </a:lnSpc>
              <a:buNone/>
            </a:pPr>
            <a:r>
              <a:rPr lang="en-US" sz="1400" dirty="0">
                <a:solidFill>
                  <a:srgbClr val="15213F"/>
                </a:solidFill>
                <a:latin typeface="Roboto" pitchFamily="34" charset="0"/>
                <a:ea typeface="Roboto" pitchFamily="34" charset="-122"/>
                <a:cs typeface="Roboto" pitchFamily="34" charset="-120"/>
              </a:rPr>
              <a:t> is the estimated cost to the goal. </a:t>
            </a:r>
            <a:pPr algn="l" indent="0" marL="0">
              <a:lnSpc>
                <a:spcPts val="2300"/>
              </a:lnSpc>
              <a:buNone/>
            </a:pPr>
            <a:r>
              <a:rPr lang="en-US" sz="1400" b="1" dirty="0">
                <a:solidFill>
                  <a:srgbClr val="15213F"/>
                </a:solidFill>
                <a:latin typeface="Roboto" pitchFamily="34" charset="0"/>
                <a:ea typeface="Roboto" pitchFamily="34" charset="-122"/>
                <a:cs typeface="Roboto" pitchFamily="34" charset="-120"/>
              </a:rPr>
              <a:t>Complete</a:t>
            </a:r>
            <a:pPr algn="l" indent="0" marL="0">
              <a:lnSpc>
                <a:spcPts val="2300"/>
              </a:lnSpc>
              <a:buNone/>
            </a:pPr>
            <a:r>
              <a:rPr lang="en-US" sz="1400" dirty="0">
                <a:solidFill>
                  <a:srgbClr val="15213F"/>
                </a:solidFill>
                <a:latin typeface="Roboto" pitchFamily="34" charset="0"/>
                <a:ea typeface="Roboto" pitchFamily="34" charset="-122"/>
                <a:cs typeface="Roboto" pitchFamily="34" charset="-120"/>
              </a:rPr>
              <a:t> and </a:t>
            </a:r>
            <a:pPr algn="l" indent="0" marL="0">
              <a:lnSpc>
                <a:spcPts val="2300"/>
              </a:lnSpc>
              <a:buNone/>
            </a:pPr>
            <a:r>
              <a:rPr lang="en-US" sz="1400" b="1" dirty="0">
                <a:solidFill>
                  <a:srgbClr val="15213F"/>
                </a:solidFill>
                <a:latin typeface="Roboto" pitchFamily="34" charset="0"/>
                <a:ea typeface="Roboto" pitchFamily="34" charset="-122"/>
                <a:cs typeface="Roboto" pitchFamily="34" charset="-120"/>
              </a:rPr>
              <a:t>Optimal</a:t>
            </a:r>
            <a:pPr algn="l" indent="0" marL="0">
              <a:lnSpc>
                <a:spcPts val="2300"/>
              </a:lnSpc>
              <a:buNone/>
            </a:pPr>
            <a:r>
              <a:rPr lang="en-US" sz="1400" dirty="0">
                <a:solidFill>
                  <a:srgbClr val="15213F"/>
                </a:solidFill>
                <a:latin typeface="Roboto" pitchFamily="34" charset="0"/>
                <a:ea typeface="Roboto" pitchFamily="34" charset="-122"/>
                <a:cs typeface="Roboto" pitchFamily="34" charset="-120"/>
              </a:rPr>
              <a:t> if the heuristic is consistent.</a:t>
            </a:r>
            <a:endParaRPr lang="en-US" sz="1400" dirty="0"/>
          </a:p>
        </p:txBody>
      </p:sp>
      <p:sp>
        <p:nvSpPr>
          <p:cNvPr id="16" name="Shape 8"/>
          <p:cNvSpPr/>
          <p:nvPr/>
        </p:nvSpPr>
        <p:spPr>
          <a:xfrm>
            <a:off x="9631323" y="2511862"/>
            <a:ext cx="4265652" cy="2821305"/>
          </a:xfrm>
          <a:prstGeom prst="roundRect">
            <a:avLst>
              <a:gd name="adj" fmla="val 3889"/>
            </a:avLst>
          </a:prstGeom>
          <a:solidFill>
            <a:srgbClr val="FBFCFE"/>
          </a:solidFill>
          <a:ln/>
        </p:spPr>
      </p:sp>
      <p:pic>
        <p:nvPicPr>
          <p:cNvPr id="17" name="Image 6" descr="preencoded.png">    </p:cNvPr>
          <p:cNvPicPr>
            <a:picLocks noChangeAspect="1"/>
          </p:cNvPicPr>
          <p:nvPr/>
        </p:nvPicPr>
        <p:blipFill>
          <a:blip r:embed="rId9"/>
          <a:stretch>
            <a:fillRect/>
          </a:stretch>
        </p:blipFill>
        <p:spPr>
          <a:xfrm>
            <a:off x="9631323" y="2489002"/>
            <a:ext cx="4265652" cy="91440"/>
          </a:xfrm>
          <a:prstGeom prst="rect">
            <a:avLst/>
          </a:prstGeom>
        </p:spPr>
      </p:pic>
      <p:pic>
        <p:nvPicPr>
          <p:cNvPr id="18" name="Image 7" descr="preencoded.png">    </p:cNvPr>
          <p:cNvPicPr>
            <a:picLocks noChangeAspect="1"/>
          </p:cNvPicPr>
          <p:nvPr/>
        </p:nvPicPr>
        <p:blipFill>
          <a:blip r:embed="rId10"/>
          <a:stretch>
            <a:fillRect/>
          </a:stretch>
        </p:blipFill>
        <p:spPr>
          <a:xfrm>
            <a:off x="11489055" y="2236827"/>
            <a:ext cx="550069" cy="550069"/>
          </a:xfrm>
          <a:prstGeom prst="rect">
            <a:avLst/>
          </a:prstGeom>
        </p:spPr>
      </p:pic>
      <p:pic>
        <p:nvPicPr>
          <p:cNvPr id="19" name="Image 8"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654076" y="2401848"/>
            <a:ext cx="220028" cy="220028"/>
          </a:xfrm>
          <a:prstGeom prst="rect">
            <a:avLst/>
          </a:prstGeom>
        </p:spPr>
      </p:pic>
      <p:sp>
        <p:nvSpPr>
          <p:cNvPr id="20" name="Text 9"/>
          <p:cNvSpPr/>
          <p:nvPr/>
        </p:nvSpPr>
        <p:spPr>
          <a:xfrm>
            <a:off x="9837539" y="2970252"/>
            <a:ext cx="2291953" cy="286464"/>
          </a:xfrm>
          <a:prstGeom prst="rect">
            <a:avLst/>
          </a:prstGeom>
          <a:noFill/>
          <a:ln/>
        </p:spPr>
        <p:txBody>
          <a:bodyPr wrap="none" lIns="0" tIns="0" rIns="0" bIns="0" rtlCol="0" anchor="t"/>
          <a:lstStyle/>
          <a:p>
            <a:pPr algn="l" indent="0" marL="0">
              <a:lnSpc>
                <a:spcPts val="2250"/>
              </a:lnSpc>
              <a:buNone/>
            </a:pPr>
            <a:r>
              <a:rPr lang="en-US" sz="1800" dirty="0">
                <a:solidFill>
                  <a:srgbClr val="15213F"/>
                </a:solidFill>
                <a:latin typeface="Roboto Slab" pitchFamily="34" charset="0"/>
                <a:ea typeface="Roboto Slab" pitchFamily="34" charset="-122"/>
                <a:cs typeface="Roboto Slab" pitchFamily="34" charset="-120"/>
              </a:rPr>
              <a:t>Hill Climbing Search</a:t>
            </a:r>
            <a:endParaRPr lang="en-US" sz="1800" dirty="0"/>
          </a:p>
        </p:txBody>
      </p:sp>
      <p:sp>
        <p:nvSpPr>
          <p:cNvPr id="21" name="Text 10"/>
          <p:cNvSpPr/>
          <p:nvPr/>
        </p:nvSpPr>
        <p:spPr>
          <a:xfrm>
            <a:off x="9837539" y="3366730"/>
            <a:ext cx="3853220" cy="1173480"/>
          </a:xfrm>
          <a:prstGeom prst="rect">
            <a:avLst/>
          </a:prstGeom>
          <a:noFill/>
          <a:ln/>
        </p:spPr>
        <p:txBody>
          <a:bodyPr wrap="square" lIns="0" tIns="0" rIns="0" bIns="0" rtlCol="0" anchor="t"/>
          <a:lstStyle/>
          <a:p>
            <a:pPr algn="l" indent="0" marL="0">
              <a:lnSpc>
                <a:spcPts val="2300"/>
              </a:lnSpc>
              <a:buNone/>
            </a:pPr>
            <a:r>
              <a:rPr lang="en-US" sz="1400" dirty="0">
                <a:solidFill>
                  <a:srgbClr val="15213F"/>
                </a:solidFill>
                <a:latin typeface="Roboto" pitchFamily="34" charset="0"/>
                <a:ea typeface="Roboto" pitchFamily="34" charset="-122"/>
                <a:cs typeface="Roboto" pitchFamily="34" charset="-120"/>
              </a:rPr>
              <a:t>A local search technique that continuously moves in the direction of increasing value (uphill). Simple, but prone to getting stuck in local optima, plateaux, or ridges.</a:t>
            </a:r>
            <a:endParaRPr lang="en-US" sz="1400" dirty="0"/>
          </a:p>
        </p:txBody>
      </p:sp>
      <p:sp>
        <p:nvSpPr>
          <p:cNvPr id="22" name="Shape 11"/>
          <p:cNvSpPr/>
          <p:nvPr/>
        </p:nvSpPr>
        <p:spPr>
          <a:xfrm>
            <a:off x="733425" y="5791557"/>
            <a:ext cx="6490097" cy="1941195"/>
          </a:xfrm>
          <a:prstGeom prst="roundRect">
            <a:avLst>
              <a:gd name="adj" fmla="val 5653"/>
            </a:avLst>
          </a:prstGeom>
          <a:solidFill>
            <a:srgbClr val="FBFCFE"/>
          </a:solidFill>
          <a:ln/>
        </p:spPr>
      </p:sp>
      <p:pic>
        <p:nvPicPr>
          <p:cNvPr id="23" name="Image 9" descr="preencoded.png">    </p:cNvPr>
          <p:cNvPicPr>
            <a:picLocks noChangeAspect="1"/>
          </p:cNvPicPr>
          <p:nvPr/>
        </p:nvPicPr>
        <p:blipFill>
          <a:blip r:embed="rId13"/>
          <a:stretch>
            <a:fillRect/>
          </a:stretch>
        </p:blipFill>
        <p:spPr>
          <a:xfrm>
            <a:off x="733425" y="5768697"/>
            <a:ext cx="6490097" cy="91440"/>
          </a:xfrm>
          <a:prstGeom prst="rect">
            <a:avLst/>
          </a:prstGeom>
        </p:spPr>
      </p:pic>
      <p:pic>
        <p:nvPicPr>
          <p:cNvPr id="24" name="Image 10" descr="preencoded.png">    </p:cNvPr>
          <p:cNvPicPr>
            <a:picLocks noChangeAspect="1"/>
          </p:cNvPicPr>
          <p:nvPr/>
        </p:nvPicPr>
        <p:blipFill>
          <a:blip r:embed="rId14"/>
          <a:stretch>
            <a:fillRect/>
          </a:stretch>
        </p:blipFill>
        <p:spPr>
          <a:xfrm>
            <a:off x="3703439" y="5516523"/>
            <a:ext cx="550069" cy="550069"/>
          </a:xfrm>
          <a:prstGeom prst="rect">
            <a:avLst/>
          </a:prstGeom>
        </p:spPr>
      </p:pic>
      <p:pic>
        <p:nvPicPr>
          <p:cNvPr id="25" name="Image 11"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868460" y="5681543"/>
            <a:ext cx="220028" cy="220028"/>
          </a:xfrm>
          <a:prstGeom prst="rect">
            <a:avLst/>
          </a:prstGeom>
        </p:spPr>
      </p:pic>
      <p:sp>
        <p:nvSpPr>
          <p:cNvPr id="26" name="Text 12"/>
          <p:cNvSpPr/>
          <p:nvPr/>
        </p:nvSpPr>
        <p:spPr>
          <a:xfrm>
            <a:off x="939641" y="6249948"/>
            <a:ext cx="2291953" cy="286464"/>
          </a:xfrm>
          <a:prstGeom prst="rect">
            <a:avLst/>
          </a:prstGeom>
          <a:noFill/>
          <a:ln/>
        </p:spPr>
        <p:txBody>
          <a:bodyPr wrap="none" lIns="0" tIns="0" rIns="0" bIns="0" rtlCol="0" anchor="t"/>
          <a:lstStyle/>
          <a:p>
            <a:pPr algn="l" indent="0" marL="0">
              <a:lnSpc>
                <a:spcPts val="2250"/>
              </a:lnSpc>
              <a:buNone/>
            </a:pPr>
            <a:r>
              <a:rPr lang="en-US" sz="1800" dirty="0">
                <a:solidFill>
                  <a:srgbClr val="15213F"/>
                </a:solidFill>
                <a:latin typeface="Roboto Slab" pitchFamily="34" charset="0"/>
                <a:ea typeface="Roboto Slab" pitchFamily="34" charset="-122"/>
                <a:cs typeface="Roboto Slab" pitchFamily="34" charset="-120"/>
              </a:rPr>
              <a:t>Local Beam Search</a:t>
            </a:r>
            <a:endParaRPr lang="en-US" sz="1800" dirty="0"/>
          </a:p>
        </p:txBody>
      </p:sp>
      <p:sp>
        <p:nvSpPr>
          <p:cNvPr id="27" name="Text 13"/>
          <p:cNvSpPr/>
          <p:nvPr/>
        </p:nvSpPr>
        <p:spPr>
          <a:xfrm>
            <a:off x="939641" y="6646426"/>
            <a:ext cx="6077664" cy="880110"/>
          </a:xfrm>
          <a:prstGeom prst="rect">
            <a:avLst/>
          </a:prstGeom>
          <a:noFill/>
          <a:ln/>
        </p:spPr>
        <p:txBody>
          <a:bodyPr wrap="square" lIns="0" tIns="0" rIns="0" bIns="0" rtlCol="0" anchor="t"/>
          <a:lstStyle/>
          <a:p>
            <a:pPr algn="l" indent="0" marL="0">
              <a:lnSpc>
                <a:spcPts val="2300"/>
              </a:lnSpc>
              <a:buNone/>
            </a:pPr>
            <a:r>
              <a:rPr lang="en-US" sz="1400" dirty="0">
                <a:solidFill>
                  <a:srgbClr val="15213F"/>
                </a:solidFill>
                <a:latin typeface="Roboto" pitchFamily="34" charset="0"/>
                <a:ea typeface="Roboto" pitchFamily="34" charset="-122"/>
                <a:cs typeface="Roboto" pitchFamily="34" charset="-120"/>
              </a:rPr>
              <a:t>Keeps track of </a:t>
            </a:r>
            <a:pPr algn="l" indent="0" marL="0">
              <a:lnSpc>
                <a:spcPts val="2300"/>
              </a:lnSpc>
              <a:buNone/>
            </a:pPr>
            <a:r>
              <a:rPr lang="en-US" sz="1400" i="1" dirty="0">
                <a:solidFill>
                  <a:srgbClr val="15213F"/>
                </a:solidFill>
                <a:latin typeface="Roboto" pitchFamily="34" charset="0"/>
                <a:ea typeface="Roboto" pitchFamily="34" charset="-122"/>
                <a:cs typeface="Roboto" pitchFamily="34" charset="-120"/>
              </a:rPr>
              <a:t>k</a:t>
            </a:r>
            <a:pPr algn="l" indent="0" marL="0">
              <a:lnSpc>
                <a:spcPts val="2300"/>
              </a:lnSpc>
              <a:buNone/>
            </a:pPr>
            <a:r>
              <a:rPr lang="en-US" sz="1400" dirty="0">
                <a:solidFill>
                  <a:srgbClr val="15213F"/>
                </a:solidFill>
                <a:latin typeface="Roboto" pitchFamily="34" charset="0"/>
                <a:ea typeface="Roboto" pitchFamily="34" charset="-122"/>
                <a:cs typeface="Roboto" pitchFamily="34" charset="-120"/>
              </a:rPr>
              <a:t> states instead of one, initiating </a:t>
            </a:r>
            <a:pPr algn="l" indent="0" marL="0">
              <a:lnSpc>
                <a:spcPts val="2300"/>
              </a:lnSpc>
              <a:buNone/>
            </a:pPr>
            <a:r>
              <a:rPr lang="en-US" sz="1400" i="1" dirty="0">
                <a:solidFill>
                  <a:srgbClr val="15213F"/>
                </a:solidFill>
                <a:latin typeface="Roboto" pitchFamily="34" charset="0"/>
                <a:ea typeface="Roboto" pitchFamily="34" charset="-122"/>
                <a:cs typeface="Roboto" pitchFamily="34" charset="-120"/>
              </a:rPr>
              <a:t>k</a:t>
            </a:r>
            <a:pPr algn="l" indent="0" marL="0">
              <a:lnSpc>
                <a:spcPts val="2300"/>
              </a:lnSpc>
              <a:buNone/>
            </a:pPr>
            <a:r>
              <a:rPr lang="en-US" sz="1400" dirty="0">
                <a:solidFill>
                  <a:srgbClr val="15213F"/>
                </a:solidFill>
                <a:latin typeface="Roboto" pitchFamily="34" charset="0"/>
                <a:ea typeface="Roboto" pitchFamily="34" charset="-122"/>
                <a:cs typeface="Roboto" pitchFamily="34" charset="-120"/>
              </a:rPr>
              <a:t> parallel searches. At each step, it generates all successors of the </a:t>
            </a:r>
            <a:pPr algn="l" indent="0" marL="0">
              <a:lnSpc>
                <a:spcPts val="2300"/>
              </a:lnSpc>
              <a:buNone/>
            </a:pPr>
            <a:r>
              <a:rPr lang="en-US" sz="1400" i="1" dirty="0">
                <a:solidFill>
                  <a:srgbClr val="15213F"/>
                </a:solidFill>
                <a:latin typeface="Roboto" pitchFamily="34" charset="0"/>
                <a:ea typeface="Roboto" pitchFamily="34" charset="-122"/>
                <a:cs typeface="Roboto" pitchFamily="34" charset="-120"/>
              </a:rPr>
              <a:t>k</a:t>
            </a:r>
            <a:pPr algn="l" indent="0" marL="0">
              <a:lnSpc>
                <a:spcPts val="2300"/>
              </a:lnSpc>
              <a:buNone/>
            </a:pPr>
            <a:r>
              <a:rPr lang="en-US" sz="1400" dirty="0">
                <a:solidFill>
                  <a:srgbClr val="15213F"/>
                </a:solidFill>
                <a:latin typeface="Roboto" pitchFamily="34" charset="0"/>
                <a:ea typeface="Roboto" pitchFamily="34" charset="-122"/>
                <a:cs typeface="Roboto" pitchFamily="34" charset="-120"/>
              </a:rPr>
              <a:t> states and chooses the </a:t>
            </a:r>
            <a:pPr algn="l" indent="0" marL="0">
              <a:lnSpc>
                <a:spcPts val="2300"/>
              </a:lnSpc>
              <a:buNone/>
            </a:pPr>
            <a:r>
              <a:rPr lang="en-US" sz="1400" i="1" dirty="0">
                <a:solidFill>
                  <a:srgbClr val="15213F"/>
                </a:solidFill>
                <a:latin typeface="Roboto" pitchFamily="34" charset="0"/>
                <a:ea typeface="Roboto" pitchFamily="34" charset="-122"/>
                <a:cs typeface="Roboto" pitchFamily="34" charset="-120"/>
              </a:rPr>
              <a:t>k</a:t>
            </a:r>
            <a:pPr algn="l" indent="0" marL="0">
              <a:lnSpc>
                <a:spcPts val="2300"/>
              </a:lnSpc>
              <a:buNone/>
            </a:pPr>
            <a:r>
              <a:rPr lang="en-US" sz="1400" dirty="0">
                <a:solidFill>
                  <a:srgbClr val="15213F"/>
                </a:solidFill>
                <a:latin typeface="Roboto" pitchFamily="34" charset="0"/>
                <a:ea typeface="Roboto" pitchFamily="34" charset="-122"/>
                <a:cs typeface="Roboto" pitchFamily="34" charset="-120"/>
              </a:rPr>
              <a:t> best successors from the entire pool.</a:t>
            </a:r>
            <a:endParaRPr lang="en-US" sz="1400" dirty="0"/>
          </a:p>
        </p:txBody>
      </p:sp>
      <p:sp>
        <p:nvSpPr>
          <p:cNvPr id="28" name="Shape 14"/>
          <p:cNvSpPr/>
          <p:nvPr/>
        </p:nvSpPr>
        <p:spPr>
          <a:xfrm>
            <a:off x="7406878" y="5791557"/>
            <a:ext cx="6490097" cy="1941195"/>
          </a:xfrm>
          <a:prstGeom prst="roundRect">
            <a:avLst>
              <a:gd name="adj" fmla="val 5653"/>
            </a:avLst>
          </a:prstGeom>
          <a:solidFill>
            <a:srgbClr val="FBFCFE"/>
          </a:solidFill>
          <a:ln/>
        </p:spPr>
      </p:sp>
      <p:pic>
        <p:nvPicPr>
          <p:cNvPr id="29" name="Image 12" descr="preencoded.png">    </p:cNvPr>
          <p:cNvPicPr>
            <a:picLocks noChangeAspect="1"/>
          </p:cNvPicPr>
          <p:nvPr/>
        </p:nvPicPr>
        <p:blipFill>
          <a:blip r:embed="rId17"/>
          <a:stretch>
            <a:fillRect/>
          </a:stretch>
        </p:blipFill>
        <p:spPr>
          <a:xfrm>
            <a:off x="7406878" y="5768697"/>
            <a:ext cx="6490097" cy="91440"/>
          </a:xfrm>
          <a:prstGeom prst="rect">
            <a:avLst/>
          </a:prstGeom>
        </p:spPr>
      </p:pic>
      <p:pic>
        <p:nvPicPr>
          <p:cNvPr id="30" name="Image 13" descr="preencoded.png">    </p:cNvPr>
          <p:cNvPicPr>
            <a:picLocks noChangeAspect="1"/>
          </p:cNvPicPr>
          <p:nvPr/>
        </p:nvPicPr>
        <p:blipFill>
          <a:blip r:embed="rId18"/>
          <a:stretch>
            <a:fillRect/>
          </a:stretch>
        </p:blipFill>
        <p:spPr>
          <a:xfrm>
            <a:off x="10376892" y="5516523"/>
            <a:ext cx="550069" cy="550069"/>
          </a:xfrm>
          <a:prstGeom prst="rect">
            <a:avLst/>
          </a:prstGeom>
        </p:spPr>
      </p:pic>
      <p:pic>
        <p:nvPicPr>
          <p:cNvPr id="31" name="Image 14"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0541913" y="5681543"/>
            <a:ext cx="220028" cy="220028"/>
          </a:xfrm>
          <a:prstGeom prst="rect">
            <a:avLst/>
          </a:prstGeom>
        </p:spPr>
      </p:pic>
      <p:sp>
        <p:nvSpPr>
          <p:cNvPr id="32" name="Text 15"/>
          <p:cNvSpPr/>
          <p:nvPr/>
        </p:nvSpPr>
        <p:spPr>
          <a:xfrm>
            <a:off x="7613094" y="6249948"/>
            <a:ext cx="2291953" cy="286464"/>
          </a:xfrm>
          <a:prstGeom prst="rect">
            <a:avLst/>
          </a:prstGeom>
          <a:noFill/>
          <a:ln/>
        </p:spPr>
        <p:txBody>
          <a:bodyPr wrap="none" lIns="0" tIns="0" rIns="0" bIns="0" rtlCol="0" anchor="t"/>
          <a:lstStyle/>
          <a:p>
            <a:pPr algn="l" indent="0" marL="0">
              <a:lnSpc>
                <a:spcPts val="2250"/>
              </a:lnSpc>
              <a:buNone/>
            </a:pPr>
            <a:r>
              <a:rPr lang="en-US" sz="1800" dirty="0">
                <a:solidFill>
                  <a:srgbClr val="15213F"/>
                </a:solidFill>
                <a:latin typeface="Roboto Slab" pitchFamily="34" charset="0"/>
                <a:ea typeface="Roboto Slab" pitchFamily="34" charset="-122"/>
                <a:cs typeface="Roboto Slab" pitchFamily="34" charset="-120"/>
              </a:rPr>
              <a:t>AND-OR Search</a:t>
            </a:r>
            <a:endParaRPr lang="en-US" sz="1800" dirty="0"/>
          </a:p>
        </p:txBody>
      </p:sp>
      <p:sp>
        <p:nvSpPr>
          <p:cNvPr id="33" name="Text 16"/>
          <p:cNvSpPr/>
          <p:nvPr/>
        </p:nvSpPr>
        <p:spPr>
          <a:xfrm>
            <a:off x="7613094" y="6646426"/>
            <a:ext cx="6077664" cy="880110"/>
          </a:xfrm>
          <a:prstGeom prst="rect">
            <a:avLst/>
          </a:prstGeom>
          <a:noFill/>
          <a:ln/>
        </p:spPr>
        <p:txBody>
          <a:bodyPr wrap="square" lIns="0" tIns="0" rIns="0" bIns="0" rtlCol="0" anchor="t"/>
          <a:lstStyle/>
          <a:p>
            <a:pPr algn="l" indent="0" marL="0">
              <a:lnSpc>
                <a:spcPts val="2300"/>
              </a:lnSpc>
              <a:buNone/>
            </a:pPr>
            <a:r>
              <a:rPr lang="en-US" sz="1400" dirty="0">
                <a:solidFill>
                  <a:srgbClr val="15213F"/>
                </a:solidFill>
                <a:latin typeface="Roboto" pitchFamily="34" charset="0"/>
                <a:ea typeface="Roboto" pitchFamily="34" charset="-122"/>
                <a:cs typeface="Roboto" pitchFamily="34" charset="-120"/>
              </a:rPr>
              <a:t>Used for problems where the solution involves a sequence of AND-OR steps, typically representing sub-problems that must be solved (AND) or choices between actions (OR).</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761048"/>
            <a:ext cx="9884926" cy="620078"/>
          </a:xfrm>
          <a:prstGeom prst="rect">
            <a:avLst/>
          </a:prstGeom>
          <a:noFill/>
          <a:ln/>
        </p:spPr>
        <p:txBody>
          <a:bodyPr wrap="none" lIns="0" tIns="0" rIns="0" bIns="0" rtlCol="0" anchor="t"/>
          <a:lstStyle/>
          <a:p>
            <a:pPr algn="l" indent="0" marL="0">
              <a:lnSpc>
                <a:spcPts val="4850"/>
              </a:lnSpc>
              <a:buNone/>
            </a:pPr>
            <a:r>
              <a:rPr lang="en-US" sz="3900" dirty="0">
                <a:solidFill>
                  <a:srgbClr val="3257B8"/>
                </a:solidFill>
                <a:latin typeface="Roboto Slab" pitchFamily="34" charset="0"/>
                <a:ea typeface="Roboto Slab" pitchFamily="34" charset="-122"/>
                <a:cs typeface="Roboto Slab" pitchFamily="34" charset="-120"/>
              </a:rPr>
              <a:t>Adversarial Search: Minimax and Pruning</a:t>
            </a:r>
            <a:endParaRPr lang="en-US" sz="3900" dirty="0"/>
          </a:p>
        </p:txBody>
      </p:sp>
      <p:sp>
        <p:nvSpPr>
          <p:cNvPr id="3" name="Text 1"/>
          <p:cNvSpPr/>
          <p:nvPr/>
        </p:nvSpPr>
        <p:spPr>
          <a:xfrm>
            <a:off x="793790" y="1777960"/>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When an agent must make decisions in an environment where another agent (the adversary) is trying to maximize its own utility (often at the expense of the first agent), we use adversarial search algorithms.</a:t>
            </a:r>
            <a:endParaRPr lang="en-US" sz="1550" dirty="0"/>
          </a:p>
        </p:txBody>
      </p:sp>
      <p:sp>
        <p:nvSpPr>
          <p:cNvPr id="4" name="Text 2"/>
          <p:cNvSpPr/>
          <p:nvPr/>
        </p:nvSpPr>
        <p:spPr>
          <a:xfrm>
            <a:off x="1091446" y="2933938"/>
            <a:ext cx="4593074" cy="496133"/>
          </a:xfrm>
          <a:prstGeom prst="rect">
            <a:avLst/>
          </a:prstGeom>
          <a:noFill/>
          <a:ln/>
        </p:spPr>
        <p:txBody>
          <a:bodyPr wrap="none" lIns="0" tIns="0" rIns="0" bIns="0" rtlCol="0" anchor="t"/>
          <a:lstStyle/>
          <a:p>
            <a:pPr algn="l" indent="0" marL="0">
              <a:lnSpc>
                <a:spcPts val="3900"/>
              </a:lnSpc>
              <a:buNone/>
            </a:pPr>
            <a:r>
              <a:rPr lang="en-US" sz="3100" dirty="0">
                <a:solidFill>
                  <a:srgbClr val="3257B8"/>
                </a:solidFill>
                <a:latin typeface="Roboto Slab" pitchFamily="34" charset="0"/>
                <a:ea typeface="Roboto Slab" pitchFamily="34" charset="-122"/>
                <a:cs typeface="Roboto Slab" pitchFamily="34" charset="-120"/>
              </a:rPr>
              <a:t>The Minimax Algorithm</a:t>
            </a:r>
            <a:endParaRPr lang="en-US" sz="3100" dirty="0"/>
          </a:p>
        </p:txBody>
      </p:sp>
      <p:sp>
        <p:nvSpPr>
          <p:cNvPr id="5" name="Text 3"/>
          <p:cNvSpPr/>
          <p:nvPr/>
        </p:nvSpPr>
        <p:spPr>
          <a:xfrm>
            <a:off x="1091446" y="3727728"/>
            <a:ext cx="12745164" cy="63507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Minimax is a recursive algorithm used for selecting an optimal move in two-player, zero-sum game theory. It explores the game tree to determine the optimal move for the current player, assuming the opponent plays optimally to minimize the current player's score.</a:t>
            </a:r>
            <a:endParaRPr lang="en-US" sz="1550" dirty="0"/>
          </a:p>
        </p:txBody>
      </p:sp>
      <p:sp>
        <p:nvSpPr>
          <p:cNvPr id="6" name="Shape 4"/>
          <p:cNvSpPr/>
          <p:nvPr/>
        </p:nvSpPr>
        <p:spPr>
          <a:xfrm>
            <a:off x="793790" y="2636282"/>
            <a:ext cx="22860" cy="1949768"/>
          </a:xfrm>
          <a:prstGeom prst="rect">
            <a:avLst/>
          </a:prstGeom>
          <a:solidFill>
            <a:srgbClr val="3257B8"/>
          </a:solidFill>
          <a:ln/>
        </p:spPr>
      </p:sp>
      <p:sp>
        <p:nvSpPr>
          <p:cNvPr id="7" name="Text 5"/>
          <p:cNvSpPr/>
          <p:nvPr/>
        </p:nvSpPr>
        <p:spPr>
          <a:xfrm>
            <a:off x="793790" y="500765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3257B8"/>
                </a:solidFill>
                <a:latin typeface="Roboto Slab" pitchFamily="34" charset="0"/>
                <a:ea typeface="Roboto Slab" pitchFamily="34" charset="-122"/>
                <a:cs typeface="Roboto Slab" pitchFamily="34" charset="-120"/>
              </a:rPr>
              <a:t>MAX Player</a:t>
            </a:r>
            <a:endParaRPr lang="en-US" sz="1950" dirty="0"/>
          </a:p>
        </p:txBody>
      </p:sp>
      <p:sp>
        <p:nvSpPr>
          <p:cNvPr id="8" name="Text 6"/>
          <p:cNvSpPr/>
          <p:nvPr/>
        </p:nvSpPr>
        <p:spPr>
          <a:xfrm>
            <a:off x="793790" y="5516166"/>
            <a:ext cx="6279356" cy="317540"/>
          </a:xfrm>
          <a:prstGeom prst="rect">
            <a:avLst/>
          </a:prstGeom>
          <a:noFill/>
          <a:ln/>
        </p:spPr>
        <p:txBody>
          <a:bodyPr wrap="non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The maximizing player attempts to achieve the highest possible score.</a:t>
            </a:r>
            <a:endParaRPr lang="en-US" sz="1550" dirty="0"/>
          </a:p>
        </p:txBody>
      </p:sp>
      <p:sp>
        <p:nvSpPr>
          <p:cNvPr id="9" name="Text 7"/>
          <p:cNvSpPr/>
          <p:nvPr/>
        </p:nvSpPr>
        <p:spPr>
          <a:xfrm>
            <a:off x="793790" y="603206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3257B8"/>
                </a:solidFill>
                <a:latin typeface="Roboto Slab" pitchFamily="34" charset="0"/>
                <a:ea typeface="Roboto Slab" pitchFamily="34" charset="-122"/>
                <a:cs typeface="Roboto Slab" pitchFamily="34" charset="-120"/>
              </a:rPr>
              <a:t>MIN Player</a:t>
            </a:r>
            <a:endParaRPr lang="en-US" sz="1950" dirty="0"/>
          </a:p>
        </p:txBody>
      </p:sp>
      <p:sp>
        <p:nvSpPr>
          <p:cNvPr id="10" name="Text 8"/>
          <p:cNvSpPr/>
          <p:nvPr/>
        </p:nvSpPr>
        <p:spPr>
          <a:xfrm>
            <a:off x="793790" y="6540579"/>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The minimizing player attempts to force the score to be as low as possible for the MAX player.</a:t>
            </a:r>
            <a:endParaRPr lang="en-US" sz="1550" dirty="0"/>
          </a:p>
        </p:txBody>
      </p:sp>
      <p:sp>
        <p:nvSpPr>
          <p:cNvPr id="11" name="Text 9"/>
          <p:cNvSpPr/>
          <p:nvPr/>
        </p:nvSpPr>
        <p:spPr>
          <a:xfrm>
            <a:off x="7564874" y="5007650"/>
            <a:ext cx="3969425" cy="496133"/>
          </a:xfrm>
          <a:prstGeom prst="rect">
            <a:avLst/>
          </a:prstGeom>
          <a:noFill/>
          <a:ln/>
        </p:spPr>
        <p:txBody>
          <a:bodyPr wrap="none" lIns="0" tIns="0" rIns="0" bIns="0" rtlCol="0" anchor="t"/>
          <a:lstStyle/>
          <a:p>
            <a:pPr algn="l" indent="0" marL="0">
              <a:lnSpc>
                <a:spcPts val="3900"/>
              </a:lnSpc>
              <a:buNone/>
            </a:pPr>
            <a:r>
              <a:rPr lang="en-US" sz="3100" dirty="0">
                <a:solidFill>
                  <a:srgbClr val="3257B8"/>
                </a:solidFill>
                <a:latin typeface="Roboto Slab" pitchFamily="34" charset="0"/>
                <a:ea typeface="Roboto Slab" pitchFamily="34" charset="-122"/>
                <a:cs typeface="Roboto Slab" pitchFamily="34" charset="-120"/>
              </a:rPr>
              <a:t>Alpha-Beta Pruning</a:t>
            </a:r>
            <a:endParaRPr lang="en-US" sz="3100" dirty="0"/>
          </a:p>
        </p:txBody>
      </p:sp>
      <p:sp>
        <p:nvSpPr>
          <p:cNvPr id="12" name="Text 10"/>
          <p:cNvSpPr/>
          <p:nvPr/>
        </p:nvSpPr>
        <p:spPr>
          <a:xfrm>
            <a:off x="7564874" y="5702141"/>
            <a:ext cx="6279356" cy="1587698"/>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Alpha-Beta pruning is an optimization technique for the Minimax algorithm that eliminates branches in the search tree. It stops evaluating a branch as soon as it determines that the branch cannot possibly contain the optimal move, significantly reducing the computation time without changing the result.</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93658" y="1266706"/>
            <a:ext cx="5332690" cy="541972"/>
          </a:xfrm>
          <a:prstGeom prst="rect">
            <a:avLst/>
          </a:prstGeom>
          <a:noFill/>
          <a:ln/>
        </p:spPr>
        <p:txBody>
          <a:bodyPr wrap="none" lIns="0" tIns="0" rIns="0" bIns="0" rtlCol="0" anchor="t"/>
          <a:lstStyle/>
          <a:p>
            <a:pPr algn="l" indent="0" marL="0">
              <a:lnSpc>
                <a:spcPts val="4250"/>
              </a:lnSpc>
              <a:buNone/>
            </a:pPr>
            <a:r>
              <a:rPr lang="en-US" sz="3400" dirty="0">
                <a:solidFill>
                  <a:srgbClr val="3257B8"/>
                </a:solidFill>
                <a:latin typeface="Roboto Slab" pitchFamily="34" charset="0"/>
                <a:ea typeface="Roboto Slab" pitchFamily="34" charset="-122"/>
                <a:cs typeface="Roboto Slab" pitchFamily="34" charset="-120"/>
              </a:rPr>
              <a:t>Classic AI Game Problems</a:t>
            </a:r>
            <a:endParaRPr lang="en-US" sz="3400" dirty="0"/>
          </a:p>
        </p:txBody>
      </p:sp>
      <p:sp>
        <p:nvSpPr>
          <p:cNvPr id="3" name="Text 1"/>
          <p:cNvSpPr/>
          <p:nvPr/>
        </p:nvSpPr>
        <p:spPr>
          <a:xfrm>
            <a:off x="693658" y="2155508"/>
            <a:ext cx="13243084" cy="277535"/>
          </a:xfrm>
          <a:prstGeom prst="rect">
            <a:avLst/>
          </a:prstGeom>
          <a:noFill/>
          <a:ln/>
        </p:spPr>
        <p:txBody>
          <a:bodyPr wrap="none" lIns="0" tIns="0" rIns="0" bIns="0" rtlCol="0" anchor="t"/>
          <a:lstStyle/>
          <a:p>
            <a:pPr algn="l" indent="0" marL="0">
              <a:lnSpc>
                <a:spcPts val="2150"/>
              </a:lnSpc>
              <a:buNone/>
            </a:pPr>
            <a:r>
              <a:rPr lang="en-US" sz="1350" dirty="0">
                <a:solidFill>
                  <a:srgbClr val="15213F"/>
                </a:solidFill>
                <a:latin typeface="Roboto" pitchFamily="34" charset="0"/>
                <a:ea typeface="Roboto" pitchFamily="34" charset="-122"/>
                <a:cs typeface="Roboto" pitchFamily="34" charset="-120"/>
              </a:rPr>
              <a:t>Games provide an excellent environment for testing AI algorithms, as they involve structured rules, clear objectives, and often adversarial elements.</a:t>
            </a:r>
            <a:endParaRPr lang="en-US" sz="1350" dirty="0"/>
          </a:p>
        </p:txBody>
      </p:sp>
      <p:pic>
        <p:nvPicPr>
          <p:cNvPr id="4" name="Image 0" descr="preencoded.png">    </p:cNvPr>
          <p:cNvPicPr>
            <a:picLocks noChangeAspect="1"/>
          </p:cNvPicPr>
          <p:nvPr/>
        </p:nvPicPr>
        <p:blipFill>
          <a:blip r:embed="rId1"/>
          <a:stretch>
            <a:fillRect/>
          </a:stretch>
        </p:blipFill>
        <p:spPr>
          <a:xfrm>
            <a:off x="701278" y="2741414"/>
            <a:ext cx="4316849" cy="2081212"/>
          </a:xfrm>
          <a:prstGeom prst="rect">
            <a:avLst/>
          </a:prstGeom>
        </p:spPr>
      </p:pic>
      <p:pic>
        <p:nvPicPr>
          <p:cNvPr id="5" name="Image 1" descr="preencoded.png">    </p:cNvPr>
          <p:cNvPicPr>
            <a:picLocks noChangeAspect="1"/>
          </p:cNvPicPr>
          <p:nvPr/>
        </p:nvPicPr>
        <p:blipFill>
          <a:blip r:embed="rId2"/>
          <a:stretch>
            <a:fillRect/>
          </a:stretch>
        </p:blipFill>
        <p:spPr>
          <a:xfrm>
            <a:off x="5156835" y="2741414"/>
            <a:ext cx="4316849" cy="2081212"/>
          </a:xfrm>
          <a:prstGeom prst="rect">
            <a:avLst/>
          </a:prstGeom>
        </p:spPr>
      </p:pic>
      <p:pic>
        <p:nvPicPr>
          <p:cNvPr id="6" name="Image 2" descr="preencoded.png">    </p:cNvPr>
          <p:cNvPicPr>
            <a:picLocks noChangeAspect="1"/>
          </p:cNvPicPr>
          <p:nvPr/>
        </p:nvPicPr>
        <p:blipFill>
          <a:blip r:embed="rId3"/>
          <a:stretch>
            <a:fillRect/>
          </a:stretch>
        </p:blipFill>
        <p:spPr>
          <a:xfrm>
            <a:off x="9612392" y="2741414"/>
            <a:ext cx="4316849" cy="2081212"/>
          </a:xfrm>
          <a:prstGeom prst="rect">
            <a:avLst/>
          </a:prstGeom>
        </p:spPr>
      </p:pic>
      <p:sp>
        <p:nvSpPr>
          <p:cNvPr id="7" name="Shape 2"/>
          <p:cNvSpPr/>
          <p:nvPr/>
        </p:nvSpPr>
        <p:spPr>
          <a:xfrm>
            <a:off x="693658" y="5130998"/>
            <a:ext cx="4298752" cy="1831896"/>
          </a:xfrm>
          <a:prstGeom prst="roundRect">
            <a:avLst>
              <a:gd name="adj" fmla="val 22723"/>
            </a:avLst>
          </a:prstGeom>
          <a:solidFill>
            <a:srgbClr val="3257B8"/>
          </a:solidFill>
          <a:ln/>
        </p:spPr>
      </p:sp>
      <p:sp>
        <p:nvSpPr>
          <p:cNvPr id="8" name="Text 3"/>
          <p:cNvSpPr/>
          <p:nvPr/>
        </p:nvSpPr>
        <p:spPr>
          <a:xfrm>
            <a:off x="867013" y="5304353"/>
            <a:ext cx="2168009" cy="270986"/>
          </a:xfrm>
          <a:prstGeom prst="rect">
            <a:avLst/>
          </a:prstGeom>
          <a:noFill/>
          <a:ln/>
        </p:spPr>
        <p:txBody>
          <a:bodyPr wrap="none" lIns="0" tIns="0" rIns="0" bIns="0" rtlCol="0" anchor="t"/>
          <a:lstStyle/>
          <a:p>
            <a:pPr algn="l" indent="0" marL="0">
              <a:lnSpc>
                <a:spcPts val="2100"/>
              </a:lnSpc>
              <a:buNone/>
            </a:pPr>
            <a:r>
              <a:rPr lang="en-US" sz="1700" dirty="0">
                <a:solidFill>
                  <a:srgbClr val="FFFFFF"/>
                </a:solidFill>
                <a:latin typeface="Roboto Slab" pitchFamily="34" charset="0"/>
                <a:ea typeface="Roboto Slab" pitchFamily="34" charset="-122"/>
                <a:cs typeface="Roboto Slab" pitchFamily="34" charset="-120"/>
              </a:rPr>
              <a:t>Tic-Tac-Toe</a:t>
            </a:r>
            <a:endParaRPr lang="en-US" sz="1700" dirty="0"/>
          </a:p>
        </p:txBody>
      </p:sp>
      <p:sp>
        <p:nvSpPr>
          <p:cNvPr id="9" name="Text 4"/>
          <p:cNvSpPr/>
          <p:nvPr/>
        </p:nvSpPr>
        <p:spPr>
          <a:xfrm>
            <a:off x="867013" y="5679400"/>
            <a:ext cx="3952042" cy="832604"/>
          </a:xfrm>
          <a:prstGeom prst="rect">
            <a:avLst/>
          </a:prstGeom>
          <a:noFill/>
          <a:ln/>
        </p:spPr>
        <p:txBody>
          <a:bodyPr wrap="square" lIns="0" tIns="0" rIns="0" bIns="0" rtlCol="0" anchor="t"/>
          <a:lstStyle/>
          <a:p>
            <a:pPr algn="l" indent="0" marL="0">
              <a:lnSpc>
                <a:spcPts val="2150"/>
              </a:lnSpc>
              <a:buNone/>
            </a:pPr>
            <a:r>
              <a:rPr lang="en-US" sz="1350" dirty="0">
                <a:solidFill>
                  <a:srgbClr val="FFFFFF"/>
                </a:solidFill>
                <a:latin typeface="Roboto" pitchFamily="34" charset="0"/>
                <a:ea typeface="Roboto" pitchFamily="34" charset="-122"/>
                <a:cs typeface="Roboto" pitchFamily="34" charset="-120"/>
              </a:rPr>
              <a:t>A simple, fully observable, deterministic game easily solved using Minimax, often used to introduce game theory concepts.</a:t>
            </a:r>
            <a:endParaRPr lang="en-US" sz="1350" dirty="0"/>
          </a:p>
        </p:txBody>
      </p:sp>
      <p:sp>
        <p:nvSpPr>
          <p:cNvPr id="10" name="Shape 5"/>
          <p:cNvSpPr/>
          <p:nvPr/>
        </p:nvSpPr>
        <p:spPr>
          <a:xfrm>
            <a:off x="5165765" y="5130998"/>
            <a:ext cx="4298752" cy="1831896"/>
          </a:xfrm>
          <a:prstGeom prst="roundRect">
            <a:avLst>
              <a:gd name="adj" fmla="val 22723"/>
            </a:avLst>
          </a:prstGeom>
          <a:solidFill>
            <a:srgbClr val="3257B8"/>
          </a:solidFill>
          <a:ln/>
        </p:spPr>
      </p:sp>
      <p:sp>
        <p:nvSpPr>
          <p:cNvPr id="11" name="Text 6"/>
          <p:cNvSpPr/>
          <p:nvPr/>
        </p:nvSpPr>
        <p:spPr>
          <a:xfrm>
            <a:off x="5339120" y="5304353"/>
            <a:ext cx="2168009" cy="270986"/>
          </a:xfrm>
          <a:prstGeom prst="rect">
            <a:avLst/>
          </a:prstGeom>
          <a:noFill/>
          <a:ln/>
        </p:spPr>
        <p:txBody>
          <a:bodyPr wrap="none" lIns="0" tIns="0" rIns="0" bIns="0" rtlCol="0" anchor="t"/>
          <a:lstStyle/>
          <a:p>
            <a:pPr algn="l" indent="0" marL="0">
              <a:lnSpc>
                <a:spcPts val="2100"/>
              </a:lnSpc>
              <a:buNone/>
            </a:pPr>
            <a:r>
              <a:rPr lang="en-US" sz="1700" dirty="0">
                <a:solidFill>
                  <a:srgbClr val="FFFFFF"/>
                </a:solidFill>
                <a:latin typeface="Roboto Slab" pitchFamily="34" charset="0"/>
                <a:ea typeface="Roboto Slab" pitchFamily="34" charset="-122"/>
                <a:cs typeface="Roboto Slab" pitchFamily="34" charset="-120"/>
              </a:rPr>
              <a:t>Chess</a:t>
            </a:r>
            <a:endParaRPr lang="en-US" sz="1700" dirty="0"/>
          </a:p>
        </p:txBody>
      </p:sp>
      <p:sp>
        <p:nvSpPr>
          <p:cNvPr id="12" name="Text 7"/>
          <p:cNvSpPr/>
          <p:nvPr/>
        </p:nvSpPr>
        <p:spPr>
          <a:xfrm>
            <a:off x="5339120" y="5679400"/>
            <a:ext cx="3952042" cy="1110139"/>
          </a:xfrm>
          <a:prstGeom prst="rect">
            <a:avLst/>
          </a:prstGeom>
          <a:noFill/>
          <a:ln/>
        </p:spPr>
        <p:txBody>
          <a:bodyPr wrap="square" lIns="0" tIns="0" rIns="0" bIns="0" rtlCol="0" anchor="t"/>
          <a:lstStyle/>
          <a:p>
            <a:pPr algn="l" indent="0" marL="0">
              <a:lnSpc>
                <a:spcPts val="2150"/>
              </a:lnSpc>
              <a:buNone/>
            </a:pPr>
            <a:r>
              <a:rPr lang="en-US" sz="1350" dirty="0">
                <a:solidFill>
                  <a:srgbClr val="FFFFFF"/>
                </a:solidFill>
                <a:latin typeface="Roboto" pitchFamily="34" charset="0"/>
                <a:ea typeface="Roboto" pitchFamily="34" charset="-122"/>
                <a:cs typeface="Roboto" pitchFamily="34" charset="-120"/>
              </a:rPr>
              <a:t>A complex, large-state space, zero-sum game requiring deep search (Minimax with Alpha-Beta Pruning) and advanced heuristics for move evaluation.</a:t>
            </a:r>
            <a:endParaRPr lang="en-US" sz="1350" dirty="0"/>
          </a:p>
        </p:txBody>
      </p:sp>
      <p:sp>
        <p:nvSpPr>
          <p:cNvPr id="13" name="Shape 8"/>
          <p:cNvSpPr/>
          <p:nvPr/>
        </p:nvSpPr>
        <p:spPr>
          <a:xfrm>
            <a:off x="9637871" y="5130998"/>
            <a:ext cx="4298752" cy="1831896"/>
          </a:xfrm>
          <a:prstGeom prst="roundRect">
            <a:avLst>
              <a:gd name="adj" fmla="val 22723"/>
            </a:avLst>
          </a:prstGeom>
          <a:solidFill>
            <a:srgbClr val="3257B8"/>
          </a:solidFill>
          <a:ln/>
        </p:spPr>
      </p:sp>
      <p:sp>
        <p:nvSpPr>
          <p:cNvPr id="14" name="Text 9"/>
          <p:cNvSpPr/>
          <p:nvPr/>
        </p:nvSpPr>
        <p:spPr>
          <a:xfrm>
            <a:off x="9811226" y="5304353"/>
            <a:ext cx="2168009" cy="270986"/>
          </a:xfrm>
          <a:prstGeom prst="rect">
            <a:avLst/>
          </a:prstGeom>
          <a:noFill/>
          <a:ln/>
        </p:spPr>
        <p:txBody>
          <a:bodyPr wrap="none" lIns="0" tIns="0" rIns="0" bIns="0" rtlCol="0" anchor="t"/>
          <a:lstStyle/>
          <a:p>
            <a:pPr algn="l" indent="0" marL="0">
              <a:lnSpc>
                <a:spcPts val="2100"/>
              </a:lnSpc>
              <a:buNone/>
            </a:pPr>
            <a:r>
              <a:rPr lang="en-US" sz="1700" dirty="0">
                <a:solidFill>
                  <a:srgbClr val="FFFFFF"/>
                </a:solidFill>
                <a:latin typeface="Roboto Slab" pitchFamily="34" charset="0"/>
                <a:ea typeface="Roboto Slab" pitchFamily="34" charset="-122"/>
                <a:cs typeface="Roboto Slab" pitchFamily="34" charset="-120"/>
              </a:rPr>
              <a:t>Sudoku</a:t>
            </a:r>
            <a:endParaRPr lang="en-US" sz="1700" dirty="0"/>
          </a:p>
        </p:txBody>
      </p:sp>
      <p:sp>
        <p:nvSpPr>
          <p:cNvPr id="15" name="Text 10"/>
          <p:cNvSpPr/>
          <p:nvPr/>
        </p:nvSpPr>
        <p:spPr>
          <a:xfrm>
            <a:off x="9811226" y="5679400"/>
            <a:ext cx="3952042" cy="1110139"/>
          </a:xfrm>
          <a:prstGeom prst="rect">
            <a:avLst/>
          </a:prstGeom>
          <a:noFill/>
          <a:ln/>
        </p:spPr>
        <p:txBody>
          <a:bodyPr wrap="square" lIns="0" tIns="0" rIns="0" bIns="0" rtlCol="0" anchor="t"/>
          <a:lstStyle/>
          <a:p>
            <a:pPr algn="l" indent="0" marL="0">
              <a:lnSpc>
                <a:spcPts val="2150"/>
              </a:lnSpc>
              <a:buNone/>
            </a:pPr>
            <a:r>
              <a:rPr lang="en-US" sz="1350" dirty="0">
                <a:solidFill>
                  <a:srgbClr val="FFFFFF"/>
                </a:solidFill>
                <a:latin typeface="Roboto" pitchFamily="34" charset="0"/>
                <a:ea typeface="Roboto" pitchFamily="34" charset="-122"/>
                <a:cs typeface="Roboto" pitchFamily="34" charset="-120"/>
              </a:rPr>
              <a:t>Not adversarial, but a pure Constraint Satisfaction Problem (CSP) involving high complexity and requiring backtracking search or specialized CSP solvers.</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85324" y="471130"/>
            <a:ext cx="8037195" cy="535424"/>
          </a:xfrm>
          <a:prstGeom prst="rect">
            <a:avLst/>
          </a:prstGeom>
          <a:noFill/>
          <a:ln/>
        </p:spPr>
        <p:txBody>
          <a:bodyPr wrap="none" lIns="0" tIns="0" rIns="0" bIns="0" rtlCol="0" anchor="t"/>
          <a:lstStyle/>
          <a:p>
            <a:pPr algn="l" indent="0" marL="0">
              <a:lnSpc>
                <a:spcPts val="4200"/>
              </a:lnSpc>
              <a:buNone/>
            </a:pPr>
            <a:r>
              <a:rPr lang="en-US" sz="3350" dirty="0">
                <a:solidFill>
                  <a:srgbClr val="3257B8"/>
                </a:solidFill>
                <a:latin typeface="Roboto Slab" pitchFamily="34" charset="0"/>
                <a:ea typeface="Roboto Slab" pitchFamily="34" charset="-122"/>
                <a:cs typeface="Roboto Slab" pitchFamily="34" charset="-120"/>
              </a:rPr>
              <a:t>Constraint Satisfaction Problems (CSPs)</a:t>
            </a:r>
            <a:endParaRPr lang="en-US" sz="3350" dirty="0"/>
          </a:p>
        </p:txBody>
      </p:sp>
      <p:sp>
        <p:nvSpPr>
          <p:cNvPr id="3" name="Text 1"/>
          <p:cNvSpPr/>
          <p:nvPr/>
        </p:nvSpPr>
        <p:spPr>
          <a:xfrm>
            <a:off x="685324" y="1349216"/>
            <a:ext cx="13259753" cy="548164"/>
          </a:xfrm>
          <a:prstGeom prst="rect">
            <a:avLst/>
          </a:prstGeom>
          <a:noFill/>
          <a:ln/>
        </p:spPr>
        <p:txBody>
          <a:bodyPr wrap="square" lIns="0" tIns="0" rIns="0" bIns="0" rtlCol="0" anchor="t"/>
          <a:lstStyle/>
          <a:p>
            <a:pPr algn="l" indent="0" marL="0">
              <a:lnSpc>
                <a:spcPts val="2150"/>
              </a:lnSpc>
              <a:buNone/>
            </a:pPr>
            <a:r>
              <a:rPr lang="en-US" sz="1300" dirty="0">
                <a:solidFill>
                  <a:srgbClr val="15213F"/>
                </a:solidFill>
                <a:latin typeface="Roboto" pitchFamily="34" charset="0"/>
                <a:ea typeface="Roboto" pitchFamily="34" charset="-122"/>
                <a:cs typeface="Roboto" pitchFamily="34" charset="-120"/>
              </a:rPr>
              <a:t>CSPs involve finding a state in which every variable satisfies a set of constraints. They are typically defined by a set of variables, a domain for each variable, and a set of constraints between the variables.</a:t>
            </a:r>
            <a:endParaRPr lang="en-US" sz="1300" dirty="0"/>
          </a:p>
        </p:txBody>
      </p:sp>
      <p:sp>
        <p:nvSpPr>
          <p:cNvPr id="4" name="Text 2"/>
          <p:cNvSpPr/>
          <p:nvPr/>
        </p:nvSpPr>
        <p:spPr>
          <a:xfrm>
            <a:off x="685324" y="2154317"/>
            <a:ext cx="5228153" cy="428268"/>
          </a:xfrm>
          <a:prstGeom prst="rect">
            <a:avLst/>
          </a:prstGeom>
          <a:noFill/>
          <a:ln/>
        </p:spPr>
        <p:txBody>
          <a:bodyPr wrap="none" lIns="0" tIns="0" rIns="0" bIns="0" rtlCol="0" anchor="t"/>
          <a:lstStyle/>
          <a:p>
            <a:pPr algn="l" indent="0" marL="0">
              <a:lnSpc>
                <a:spcPts val="3350"/>
              </a:lnSpc>
              <a:buNone/>
            </a:pPr>
            <a:r>
              <a:rPr lang="en-US" sz="2650" dirty="0">
                <a:solidFill>
                  <a:srgbClr val="3257B8"/>
                </a:solidFill>
                <a:latin typeface="Roboto Slab" pitchFamily="34" charset="0"/>
                <a:ea typeface="Roboto Slab" pitchFamily="34" charset="-122"/>
                <a:cs typeface="Roboto Slab" pitchFamily="34" charset="-120"/>
              </a:rPr>
              <a:t>Cryptarithmetic Puzzle Example</a:t>
            </a:r>
            <a:endParaRPr lang="en-US" sz="2650" dirty="0"/>
          </a:p>
        </p:txBody>
      </p:sp>
      <p:sp>
        <p:nvSpPr>
          <p:cNvPr id="5" name="Text 3"/>
          <p:cNvSpPr/>
          <p:nvPr/>
        </p:nvSpPr>
        <p:spPr>
          <a:xfrm>
            <a:off x="685324" y="2839522"/>
            <a:ext cx="13259753" cy="548164"/>
          </a:xfrm>
          <a:prstGeom prst="rect">
            <a:avLst/>
          </a:prstGeom>
          <a:noFill/>
          <a:ln/>
        </p:spPr>
        <p:txBody>
          <a:bodyPr wrap="square" lIns="0" tIns="0" rIns="0" bIns="0" rtlCol="0" anchor="t"/>
          <a:lstStyle/>
          <a:p>
            <a:pPr algn="l" indent="0" marL="0">
              <a:lnSpc>
                <a:spcPts val="2150"/>
              </a:lnSpc>
              <a:buNone/>
            </a:pPr>
            <a:r>
              <a:rPr lang="en-US" sz="1300" dirty="0">
                <a:solidFill>
                  <a:srgbClr val="15213F"/>
                </a:solidFill>
                <a:latin typeface="Roboto" pitchFamily="34" charset="0"/>
                <a:ea typeface="Roboto" pitchFamily="34" charset="-122"/>
                <a:cs typeface="Roboto" pitchFamily="34" charset="-120"/>
              </a:rPr>
              <a:t>A famous CSP where letters must be replaced by digits (e.g., SEND + MORE = MONEY). This problem perfectly demonstrates the application of CSP techniques like backtracking and heuristics.</a:t>
            </a:r>
            <a:endParaRPr lang="en-US" sz="1300" dirty="0"/>
          </a:p>
        </p:txBody>
      </p:sp>
      <p:sp>
        <p:nvSpPr>
          <p:cNvPr id="6" name="Shape 4"/>
          <p:cNvSpPr/>
          <p:nvPr/>
        </p:nvSpPr>
        <p:spPr>
          <a:xfrm>
            <a:off x="685324" y="3580448"/>
            <a:ext cx="13259753" cy="2321957"/>
          </a:xfrm>
          <a:prstGeom prst="roundRect">
            <a:avLst>
              <a:gd name="adj" fmla="val 1107"/>
            </a:avLst>
          </a:prstGeom>
          <a:noFill/>
          <a:ln w="7620">
            <a:solidFill>
              <a:srgbClr val="000000">
                <a:alpha val="8000"/>
              </a:srgbClr>
            </a:solidFill>
            <a:prstDash val="solid"/>
          </a:ln>
        </p:spPr>
      </p:sp>
      <p:sp>
        <p:nvSpPr>
          <p:cNvPr id="7" name="Shape 5"/>
          <p:cNvSpPr/>
          <p:nvPr/>
        </p:nvSpPr>
        <p:spPr>
          <a:xfrm>
            <a:off x="692944" y="3588068"/>
            <a:ext cx="13244513" cy="768906"/>
          </a:xfrm>
          <a:prstGeom prst="rect">
            <a:avLst/>
          </a:prstGeom>
          <a:solidFill>
            <a:srgbClr val="FFFFFF">
              <a:alpha val="4000"/>
            </a:srgbClr>
          </a:solidFill>
          <a:ln/>
        </p:spPr>
      </p:sp>
      <p:sp>
        <p:nvSpPr>
          <p:cNvPr id="8" name="Text 6"/>
          <p:cNvSpPr/>
          <p:nvPr/>
        </p:nvSpPr>
        <p:spPr>
          <a:xfrm>
            <a:off x="864275" y="3698438"/>
            <a:ext cx="3626882" cy="274082"/>
          </a:xfrm>
          <a:prstGeom prst="rect">
            <a:avLst/>
          </a:prstGeom>
          <a:noFill/>
          <a:ln/>
        </p:spPr>
        <p:txBody>
          <a:bodyPr wrap="none" lIns="0" tIns="0" rIns="0" bIns="0" rtlCol="0" anchor="t"/>
          <a:lstStyle/>
          <a:p>
            <a:pPr algn="l" indent="0" marL="0">
              <a:lnSpc>
                <a:spcPts val="2150"/>
              </a:lnSpc>
              <a:buNone/>
            </a:pPr>
            <a:r>
              <a:rPr lang="en-US" sz="1300" b="1" dirty="0">
                <a:solidFill>
                  <a:srgbClr val="15213F"/>
                </a:solidFill>
                <a:latin typeface="Roboto" pitchFamily="34" charset="0"/>
                <a:ea typeface="Roboto" pitchFamily="34" charset="-122"/>
                <a:cs typeface="Roboto" pitchFamily="34" charset="-120"/>
              </a:rPr>
              <a:t>Local Consistency</a:t>
            </a:r>
            <a:endParaRPr lang="en-US" sz="1300" dirty="0"/>
          </a:p>
        </p:txBody>
      </p:sp>
      <p:sp>
        <p:nvSpPr>
          <p:cNvPr id="9" name="Text 7"/>
          <p:cNvSpPr/>
          <p:nvPr/>
        </p:nvSpPr>
        <p:spPr>
          <a:xfrm>
            <a:off x="4841438" y="3698438"/>
            <a:ext cx="8924687" cy="548164"/>
          </a:xfrm>
          <a:prstGeom prst="rect">
            <a:avLst/>
          </a:prstGeom>
          <a:noFill/>
          <a:ln/>
        </p:spPr>
        <p:txBody>
          <a:bodyPr wrap="square" lIns="0" tIns="0" rIns="0" bIns="0" rtlCol="0" anchor="t"/>
          <a:lstStyle/>
          <a:p>
            <a:pPr algn="l" indent="0" marL="0">
              <a:lnSpc>
                <a:spcPts val="2150"/>
              </a:lnSpc>
              <a:buNone/>
            </a:pPr>
            <a:r>
              <a:rPr lang="en-US" sz="1300" dirty="0">
                <a:solidFill>
                  <a:srgbClr val="15213F"/>
                </a:solidFill>
                <a:latin typeface="Roboto" pitchFamily="34" charset="0"/>
                <a:ea typeface="Roboto" pitchFamily="34" charset="-122"/>
                <a:cs typeface="Roboto" pitchFamily="34" charset="-120"/>
              </a:rPr>
              <a:t>Techniques like arc consistency (AC-3) remove inconsistent values from the domains of variables, reducing the search space before and during search.</a:t>
            </a:r>
            <a:endParaRPr lang="en-US" sz="1300" dirty="0"/>
          </a:p>
        </p:txBody>
      </p:sp>
      <p:sp>
        <p:nvSpPr>
          <p:cNvPr id="10" name="Shape 8"/>
          <p:cNvSpPr/>
          <p:nvPr/>
        </p:nvSpPr>
        <p:spPr>
          <a:xfrm>
            <a:off x="692944" y="4356973"/>
            <a:ext cx="13244513" cy="768906"/>
          </a:xfrm>
          <a:prstGeom prst="rect">
            <a:avLst/>
          </a:prstGeom>
          <a:solidFill>
            <a:srgbClr val="000000">
              <a:alpha val="4000"/>
            </a:srgbClr>
          </a:solidFill>
          <a:ln/>
        </p:spPr>
      </p:sp>
      <p:sp>
        <p:nvSpPr>
          <p:cNvPr id="11" name="Text 9"/>
          <p:cNvSpPr/>
          <p:nvPr/>
        </p:nvSpPr>
        <p:spPr>
          <a:xfrm>
            <a:off x="864275" y="4467344"/>
            <a:ext cx="3626882" cy="274082"/>
          </a:xfrm>
          <a:prstGeom prst="rect">
            <a:avLst/>
          </a:prstGeom>
          <a:noFill/>
          <a:ln/>
        </p:spPr>
        <p:txBody>
          <a:bodyPr wrap="none" lIns="0" tIns="0" rIns="0" bIns="0" rtlCol="0" anchor="t"/>
          <a:lstStyle/>
          <a:p>
            <a:pPr algn="l" indent="0" marL="0">
              <a:lnSpc>
                <a:spcPts val="2150"/>
              </a:lnSpc>
              <a:buNone/>
            </a:pPr>
            <a:r>
              <a:rPr lang="en-US" sz="1300" b="1" dirty="0">
                <a:solidFill>
                  <a:srgbClr val="15213F"/>
                </a:solidFill>
                <a:latin typeface="Roboto" pitchFamily="34" charset="0"/>
                <a:ea typeface="Roboto" pitchFamily="34" charset="-122"/>
                <a:cs typeface="Roboto" pitchFamily="34" charset="-120"/>
              </a:rPr>
              <a:t>Bound Propagation</a:t>
            </a:r>
            <a:endParaRPr lang="en-US" sz="1300" dirty="0"/>
          </a:p>
        </p:txBody>
      </p:sp>
      <p:sp>
        <p:nvSpPr>
          <p:cNvPr id="12" name="Text 10"/>
          <p:cNvSpPr/>
          <p:nvPr/>
        </p:nvSpPr>
        <p:spPr>
          <a:xfrm>
            <a:off x="4841438" y="4467344"/>
            <a:ext cx="8924687" cy="548164"/>
          </a:xfrm>
          <a:prstGeom prst="rect">
            <a:avLst/>
          </a:prstGeom>
          <a:noFill/>
          <a:ln/>
        </p:spPr>
        <p:txBody>
          <a:bodyPr wrap="square" lIns="0" tIns="0" rIns="0" bIns="0" rtlCol="0" anchor="t"/>
          <a:lstStyle/>
          <a:p>
            <a:pPr algn="l" indent="0" marL="0">
              <a:lnSpc>
                <a:spcPts val="2150"/>
              </a:lnSpc>
              <a:buNone/>
            </a:pPr>
            <a:r>
              <a:rPr lang="en-US" sz="1300" dirty="0">
                <a:solidFill>
                  <a:srgbClr val="15213F"/>
                </a:solidFill>
                <a:latin typeface="Roboto" pitchFamily="34" charset="0"/>
                <a:ea typeface="Roboto" pitchFamily="34" charset="-122"/>
                <a:cs typeface="Roboto" pitchFamily="34" charset="-120"/>
              </a:rPr>
              <a:t>In CSPs with continuous variables, propagation ensures that constraints on boundaries (ranges) are respected, narrowing the possible solution space.</a:t>
            </a:r>
            <a:endParaRPr lang="en-US" sz="1300" dirty="0"/>
          </a:p>
        </p:txBody>
      </p:sp>
      <p:sp>
        <p:nvSpPr>
          <p:cNvPr id="13" name="Shape 11"/>
          <p:cNvSpPr/>
          <p:nvPr/>
        </p:nvSpPr>
        <p:spPr>
          <a:xfrm>
            <a:off x="692944" y="5125879"/>
            <a:ext cx="13244513" cy="768906"/>
          </a:xfrm>
          <a:prstGeom prst="rect">
            <a:avLst/>
          </a:prstGeom>
          <a:solidFill>
            <a:srgbClr val="FFFFFF">
              <a:alpha val="4000"/>
            </a:srgbClr>
          </a:solidFill>
          <a:ln/>
        </p:spPr>
      </p:sp>
      <p:sp>
        <p:nvSpPr>
          <p:cNvPr id="14" name="Text 12"/>
          <p:cNvSpPr/>
          <p:nvPr/>
        </p:nvSpPr>
        <p:spPr>
          <a:xfrm>
            <a:off x="864275" y="5236250"/>
            <a:ext cx="3626882" cy="274082"/>
          </a:xfrm>
          <a:prstGeom prst="rect">
            <a:avLst/>
          </a:prstGeom>
          <a:noFill/>
          <a:ln/>
        </p:spPr>
        <p:txBody>
          <a:bodyPr wrap="none" lIns="0" tIns="0" rIns="0" bIns="0" rtlCol="0" anchor="t"/>
          <a:lstStyle/>
          <a:p>
            <a:pPr algn="l" indent="0" marL="0">
              <a:lnSpc>
                <a:spcPts val="2150"/>
              </a:lnSpc>
              <a:buNone/>
            </a:pPr>
            <a:r>
              <a:rPr lang="en-US" sz="1300" b="1" dirty="0">
                <a:solidFill>
                  <a:srgbClr val="15213F"/>
                </a:solidFill>
                <a:latin typeface="Roboto" pitchFamily="34" charset="0"/>
                <a:ea typeface="Roboto" pitchFamily="34" charset="-122"/>
                <a:cs typeface="Roboto" pitchFamily="34" charset="-120"/>
              </a:rPr>
              <a:t>Backtracking Search</a:t>
            </a:r>
            <a:endParaRPr lang="en-US" sz="1300" dirty="0"/>
          </a:p>
        </p:txBody>
      </p:sp>
      <p:sp>
        <p:nvSpPr>
          <p:cNvPr id="15" name="Text 13"/>
          <p:cNvSpPr/>
          <p:nvPr/>
        </p:nvSpPr>
        <p:spPr>
          <a:xfrm>
            <a:off x="4841438" y="5236250"/>
            <a:ext cx="8924687" cy="548164"/>
          </a:xfrm>
          <a:prstGeom prst="rect">
            <a:avLst/>
          </a:prstGeom>
          <a:noFill/>
          <a:ln/>
        </p:spPr>
        <p:txBody>
          <a:bodyPr wrap="square" lIns="0" tIns="0" rIns="0" bIns="0" rtlCol="0" anchor="t"/>
          <a:lstStyle/>
          <a:p>
            <a:pPr algn="l" indent="0" marL="0">
              <a:lnSpc>
                <a:spcPts val="2150"/>
              </a:lnSpc>
              <a:buNone/>
            </a:pPr>
            <a:r>
              <a:rPr lang="en-US" sz="1300" dirty="0">
                <a:solidFill>
                  <a:srgbClr val="15213F"/>
                </a:solidFill>
                <a:latin typeface="Roboto" pitchFamily="34" charset="0"/>
                <a:ea typeface="Roboto" pitchFamily="34" charset="-122"/>
                <a:cs typeface="Roboto" pitchFamily="34" charset="-120"/>
              </a:rPr>
              <a:t>The primary algorithm for CSPs. It assigns values one variable at a time, checking for constraint violations. If a violation occurs, it backtracks to the previous variable.</a:t>
            </a:r>
            <a:endParaRPr lang="en-US" sz="1300" dirty="0"/>
          </a:p>
        </p:txBody>
      </p:sp>
      <p:sp>
        <p:nvSpPr>
          <p:cNvPr id="16" name="Text 14"/>
          <p:cNvSpPr/>
          <p:nvPr/>
        </p:nvSpPr>
        <p:spPr>
          <a:xfrm>
            <a:off x="685324" y="6159341"/>
            <a:ext cx="4452699" cy="428268"/>
          </a:xfrm>
          <a:prstGeom prst="rect">
            <a:avLst/>
          </a:prstGeom>
          <a:noFill/>
          <a:ln/>
        </p:spPr>
        <p:txBody>
          <a:bodyPr wrap="none" lIns="0" tIns="0" rIns="0" bIns="0" rtlCol="0" anchor="t"/>
          <a:lstStyle/>
          <a:p>
            <a:pPr algn="l" indent="0" marL="0">
              <a:lnSpc>
                <a:spcPts val="3350"/>
              </a:lnSpc>
              <a:buNone/>
            </a:pPr>
            <a:r>
              <a:rPr lang="en-US" sz="2650" dirty="0">
                <a:solidFill>
                  <a:srgbClr val="3257B8"/>
                </a:solidFill>
                <a:latin typeface="Roboto Slab" pitchFamily="34" charset="0"/>
                <a:ea typeface="Roboto Slab" pitchFamily="34" charset="-122"/>
                <a:cs typeface="Roboto Slab" pitchFamily="34" charset="-120"/>
              </a:rPr>
              <a:t>Heuristics for Backtracking</a:t>
            </a:r>
            <a:endParaRPr lang="en-US" sz="2650" dirty="0"/>
          </a:p>
        </p:txBody>
      </p:sp>
      <p:pic>
        <p:nvPicPr>
          <p:cNvPr id="1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49618" y="6849904"/>
            <a:ext cx="256937" cy="256937"/>
          </a:xfrm>
          <a:prstGeom prst="rect">
            <a:avLst/>
          </a:prstGeom>
        </p:spPr>
      </p:pic>
      <p:sp>
        <p:nvSpPr>
          <p:cNvPr id="18" name="Text 15"/>
          <p:cNvSpPr/>
          <p:nvPr/>
        </p:nvSpPr>
        <p:spPr>
          <a:xfrm>
            <a:off x="1242179" y="6844546"/>
            <a:ext cx="3628668" cy="267653"/>
          </a:xfrm>
          <a:prstGeom prst="rect">
            <a:avLst/>
          </a:prstGeom>
          <a:noFill/>
          <a:ln/>
        </p:spPr>
        <p:txBody>
          <a:bodyPr wrap="none" lIns="0" tIns="0" rIns="0" bIns="0" rtlCol="0" anchor="t"/>
          <a:lstStyle/>
          <a:p>
            <a:pPr algn="l" indent="0" marL="0">
              <a:lnSpc>
                <a:spcPts val="2100"/>
              </a:lnSpc>
              <a:buNone/>
            </a:pPr>
            <a:r>
              <a:rPr lang="en-US" sz="1650" dirty="0">
                <a:solidFill>
                  <a:srgbClr val="15213F"/>
                </a:solidFill>
                <a:latin typeface="Roboto Slab" pitchFamily="34" charset="0"/>
                <a:ea typeface="Roboto Slab" pitchFamily="34" charset="-122"/>
                <a:cs typeface="Roboto Slab" pitchFamily="34" charset="-120"/>
              </a:rPr>
              <a:t>Minimum Remaining Values (MRV)</a:t>
            </a:r>
            <a:endParaRPr lang="en-US" sz="1650" dirty="0"/>
          </a:p>
        </p:txBody>
      </p:sp>
      <p:sp>
        <p:nvSpPr>
          <p:cNvPr id="19" name="Text 16"/>
          <p:cNvSpPr/>
          <p:nvPr/>
        </p:nvSpPr>
        <p:spPr>
          <a:xfrm>
            <a:off x="1242179" y="7214949"/>
            <a:ext cx="5965984" cy="548164"/>
          </a:xfrm>
          <a:prstGeom prst="rect">
            <a:avLst/>
          </a:prstGeom>
          <a:noFill/>
          <a:ln/>
        </p:spPr>
        <p:txBody>
          <a:bodyPr wrap="square" lIns="0" tIns="0" rIns="0" bIns="0" rtlCol="0" anchor="t"/>
          <a:lstStyle/>
          <a:p>
            <a:pPr algn="l" indent="0" marL="0">
              <a:lnSpc>
                <a:spcPts val="2150"/>
              </a:lnSpc>
              <a:buNone/>
            </a:pPr>
            <a:r>
              <a:rPr lang="en-US" sz="1300" dirty="0">
                <a:solidFill>
                  <a:srgbClr val="15213F"/>
                </a:solidFill>
                <a:latin typeface="Roboto" pitchFamily="34" charset="0"/>
                <a:ea typeface="Roboto" pitchFamily="34" charset="-122"/>
                <a:cs typeface="Roboto" pitchFamily="34" charset="-120"/>
              </a:rPr>
              <a:t>Chooses the variable with the fewest legal remaining values (the most constrained variable) to detect failures early.</a:t>
            </a:r>
            <a:endParaRPr lang="en-US" sz="130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86531" y="6849904"/>
            <a:ext cx="256937" cy="256937"/>
          </a:xfrm>
          <a:prstGeom prst="rect">
            <a:avLst/>
          </a:prstGeom>
        </p:spPr>
      </p:pic>
      <p:sp>
        <p:nvSpPr>
          <p:cNvPr id="21" name="Text 17"/>
          <p:cNvSpPr/>
          <p:nvPr/>
        </p:nvSpPr>
        <p:spPr>
          <a:xfrm>
            <a:off x="7979093" y="6844546"/>
            <a:ext cx="2141696" cy="267653"/>
          </a:xfrm>
          <a:prstGeom prst="rect">
            <a:avLst/>
          </a:prstGeom>
          <a:noFill/>
          <a:ln/>
        </p:spPr>
        <p:txBody>
          <a:bodyPr wrap="none" lIns="0" tIns="0" rIns="0" bIns="0" rtlCol="0" anchor="t"/>
          <a:lstStyle/>
          <a:p>
            <a:pPr algn="l" indent="0" marL="0">
              <a:lnSpc>
                <a:spcPts val="2100"/>
              </a:lnSpc>
              <a:buNone/>
            </a:pPr>
            <a:r>
              <a:rPr lang="en-US" sz="1650" dirty="0">
                <a:solidFill>
                  <a:srgbClr val="15213F"/>
                </a:solidFill>
                <a:latin typeface="Roboto Slab" pitchFamily="34" charset="0"/>
                <a:ea typeface="Roboto Slab" pitchFamily="34" charset="-122"/>
                <a:cs typeface="Roboto Slab" pitchFamily="34" charset="-120"/>
              </a:rPr>
              <a:t>Degree Heuristic</a:t>
            </a:r>
            <a:endParaRPr lang="en-US" sz="1650" dirty="0"/>
          </a:p>
        </p:txBody>
      </p:sp>
      <p:sp>
        <p:nvSpPr>
          <p:cNvPr id="22" name="Text 18"/>
          <p:cNvSpPr/>
          <p:nvPr/>
        </p:nvSpPr>
        <p:spPr>
          <a:xfrm>
            <a:off x="7979093" y="7214949"/>
            <a:ext cx="5965984" cy="548164"/>
          </a:xfrm>
          <a:prstGeom prst="rect">
            <a:avLst/>
          </a:prstGeom>
          <a:noFill/>
          <a:ln/>
        </p:spPr>
        <p:txBody>
          <a:bodyPr wrap="square" lIns="0" tIns="0" rIns="0" bIns="0" rtlCol="0" anchor="t"/>
          <a:lstStyle/>
          <a:p>
            <a:pPr algn="l" indent="0" marL="0">
              <a:lnSpc>
                <a:spcPts val="2150"/>
              </a:lnSpc>
              <a:buNone/>
            </a:pPr>
            <a:r>
              <a:rPr lang="en-US" sz="1300" dirty="0">
                <a:solidFill>
                  <a:srgbClr val="15213F"/>
                </a:solidFill>
                <a:latin typeface="Roboto" pitchFamily="34" charset="0"/>
                <a:ea typeface="Roboto" pitchFamily="34" charset="-122"/>
                <a:cs typeface="Roboto" pitchFamily="34" charset="-120"/>
              </a:rPr>
              <a:t>Ties broken by choosing the variable involved in the largest number of constraints on unassigned variables.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2025-10-26T13:10:22Z</dcterms:created>
  <dcterms:modified xsi:type="dcterms:W3CDTF">2025-10-26T13:10:22Z</dcterms:modified>
</cp:coreProperties>
</file>