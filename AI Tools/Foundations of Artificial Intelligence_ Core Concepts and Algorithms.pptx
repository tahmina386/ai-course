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Roboto Slab"/>
      <p:regular r:id="rId15"/>
      <p:bold r:id="rId16"/>
    </p:embeddedFon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Slab-regular.fntdata"/><Relationship Id="rId14" Type="http://schemas.openxmlformats.org/officeDocument/2006/relationships/slide" Target="slides/slide10.xml"/><Relationship Id="rId17" Type="http://schemas.openxmlformats.org/officeDocument/2006/relationships/font" Target="fonts/Roboto-regular.fntdata"/><Relationship Id="rId16" Type="http://schemas.openxmlformats.org/officeDocument/2006/relationships/font" Target="fonts/RobotoSlab-bold.fntdata"/><Relationship Id="rId5" Type="http://schemas.openxmlformats.org/officeDocument/2006/relationships/slide" Target="slides/slide1.xml"/><Relationship Id="rId19" Type="http://schemas.openxmlformats.org/officeDocument/2006/relationships/font" Target="fonts/Roboto-italic.fntdata"/><Relationship Id="rId6" Type="http://schemas.openxmlformats.org/officeDocument/2006/relationships/slide" Target="slides/slide2.xml"/><Relationship Id="rId18"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22.png"/><Relationship Id="rId7" Type="http://schemas.openxmlformats.org/officeDocument/2006/relationships/image" Target="../media/image14.png"/><Relationship Id="rId8"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40.png"/><Relationship Id="rId5"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7" name="Google Shape;57;p13"/>
          <p:cNvSpPr/>
          <p:nvPr/>
        </p:nvSpPr>
        <p:spPr>
          <a:xfrm>
            <a:off x="793790" y="1974294"/>
            <a:ext cx="7556421" cy="2126337"/>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257B8"/>
              </a:buClr>
              <a:buSzPts val="4450"/>
              <a:buFont typeface="Roboto Slab"/>
              <a:buNone/>
            </a:pPr>
            <a:r>
              <a:rPr b="0" i="0" lang="en-US" sz="4450" u="none" cap="none" strike="noStrike">
                <a:solidFill>
                  <a:srgbClr val="3257B8"/>
                </a:solidFill>
                <a:latin typeface="Roboto Slab"/>
                <a:ea typeface="Roboto Slab"/>
                <a:cs typeface="Roboto Slab"/>
                <a:sym typeface="Roboto Slab"/>
              </a:rPr>
              <a:t>Foundations of Artificial Intelligence: Core Concepts and Algorithms</a:t>
            </a:r>
            <a:endParaRPr b="0" i="0" sz="4450" u="none" cap="none" strike="noStrike"/>
          </a:p>
        </p:txBody>
      </p:sp>
      <p:sp>
        <p:nvSpPr>
          <p:cNvPr id="58" name="Google Shape;58;p13"/>
          <p:cNvSpPr/>
          <p:nvPr/>
        </p:nvSpPr>
        <p:spPr>
          <a:xfrm>
            <a:off x="793790" y="4440793"/>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Welcome to an exploration of Artificial Intelligence, a field dedicated to creating systems that can reason, learn, and act with intelligence. This presentation provides an overview of the core concepts, historical approaches, and foundational algorithms essential for computer science students and early-career AI practitioners.</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793790" y="1321951"/>
            <a:ext cx="7151013"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257B8"/>
              </a:buClr>
              <a:buSzPts val="3550"/>
              <a:buFont typeface="Roboto Slab"/>
              <a:buNone/>
            </a:pPr>
            <a:r>
              <a:rPr b="0" i="0" lang="en-US" sz="3550" u="none" cap="none" strike="noStrike">
                <a:solidFill>
                  <a:srgbClr val="3257B8"/>
                </a:solidFill>
                <a:latin typeface="Roboto Slab"/>
                <a:ea typeface="Roboto Slab"/>
                <a:cs typeface="Roboto Slab"/>
                <a:sym typeface="Roboto Slab"/>
              </a:rPr>
              <a:t>Defining Intelligence: What is AI?</a:t>
            </a:r>
            <a:endParaRPr b="0" i="0" sz="3550" u="none" cap="none" strike="noStrike"/>
          </a:p>
        </p:txBody>
      </p:sp>
      <p:sp>
        <p:nvSpPr>
          <p:cNvPr id="65" name="Google Shape;65;p14"/>
          <p:cNvSpPr/>
          <p:nvPr/>
        </p:nvSpPr>
        <p:spPr>
          <a:xfrm>
            <a:off x="2197418" y="2790587"/>
            <a:ext cx="2835235"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Acting Humanly</a:t>
            </a:r>
            <a:endParaRPr b="0" i="0" sz="2200" u="none" cap="none" strike="noStrike"/>
          </a:p>
        </p:txBody>
      </p:sp>
      <p:sp>
        <p:nvSpPr>
          <p:cNvPr id="66" name="Google Shape;66;p14"/>
          <p:cNvSpPr/>
          <p:nvPr/>
        </p:nvSpPr>
        <p:spPr>
          <a:xfrm>
            <a:off x="793790" y="3281005"/>
            <a:ext cx="4238863" cy="725805"/>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The Turing Test approach, focusing on behavioral equivalence.</a:t>
            </a:r>
            <a:endParaRPr b="0" i="0" sz="1750" u="none" cap="none" strike="noStrike"/>
          </a:p>
        </p:txBody>
      </p:sp>
      <p:pic>
        <p:nvPicPr>
          <p:cNvPr descr="preencoded.png" id="67" name="Google Shape;67;p14"/>
          <p:cNvPicPr preferRelativeResize="0"/>
          <p:nvPr/>
        </p:nvPicPr>
        <p:blipFill rotWithShape="1">
          <a:blip r:embed="rId3">
            <a:alphaModFix/>
          </a:blip>
          <a:srcRect b="0" l="0" r="0" t="0"/>
          <a:stretch/>
        </p:blipFill>
        <p:spPr>
          <a:xfrm>
            <a:off x="5032653" y="2342555"/>
            <a:ext cx="4564975" cy="4564975"/>
          </a:xfrm>
          <a:prstGeom prst="rect">
            <a:avLst/>
          </a:prstGeom>
          <a:noFill/>
          <a:ln>
            <a:noFill/>
          </a:ln>
        </p:spPr>
      </p:pic>
      <p:pic>
        <p:nvPicPr>
          <p:cNvPr descr="preencoded.png" id="68" name="Google Shape;68;p14"/>
          <p:cNvPicPr preferRelativeResize="0"/>
          <p:nvPr/>
        </p:nvPicPr>
        <p:blipFill rotWithShape="1">
          <a:blip r:embed="rId4">
            <a:alphaModFix/>
          </a:blip>
          <a:srcRect b="0" l="0" r="0" t="0"/>
          <a:stretch/>
        </p:blipFill>
        <p:spPr>
          <a:xfrm>
            <a:off x="6204585" y="3774519"/>
            <a:ext cx="318968" cy="318968"/>
          </a:xfrm>
          <a:prstGeom prst="rect">
            <a:avLst/>
          </a:prstGeom>
          <a:noFill/>
          <a:ln>
            <a:noFill/>
          </a:ln>
        </p:spPr>
      </p:pic>
      <p:sp>
        <p:nvSpPr>
          <p:cNvPr id="69" name="Google Shape;69;p14"/>
          <p:cNvSpPr/>
          <p:nvPr/>
        </p:nvSpPr>
        <p:spPr>
          <a:xfrm>
            <a:off x="9597628" y="238184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Thinking Humanly</a:t>
            </a:r>
            <a:endParaRPr b="0" i="0" sz="2200" u="none" cap="none" strike="noStrike"/>
          </a:p>
        </p:txBody>
      </p:sp>
      <p:sp>
        <p:nvSpPr>
          <p:cNvPr id="70" name="Google Shape;70;p14"/>
          <p:cNvSpPr/>
          <p:nvPr/>
        </p:nvSpPr>
        <p:spPr>
          <a:xfrm>
            <a:off x="9597628" y="2872264"/>
            <a:ext cx="423898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Cognitive modeling: Understanding how the human mind works to replicate it.</a:t>
            </a:r>
            <a:endParaRPr b="0" i="0" sz="1750" u="none" cap="none" strike="noStrike"/>
          </a:p>
        </p:txBody>
      </p:sp>
      <p:pic>
        <p:nvPicPr>
          <p:cNvPr descr="preencoded.png" id="71" name="Google Shape;71;p14"/>
          <p:cNvPicPr preferRelativeResize="0"/>
          <p:nvPr/>
        </p:nvPicPr>
        <p:blipFill rotWithShape="1">
          <a:blip r:embed="rId5">
            <a:alphaModFix/>
          </a:blip>
          <a:srcRect b="0" l="0" r="0" t="0"/>
          <a:stretch/>
        </p:blipFill>
        <p:spPr>
          <a:xfrm>
            <a:off x="5032653" y="2342555"/>
            <a:ext cx="4564975" cy="4564975"/>
          </a:xfrm>
          <a:prstGeom prst="rect">
            <a:avLst/>
          </a:prstGeom>
          <a:noFill/>
          <a:ln>
            <a:noFill/>
          </a:ln>
        </p:spPr>
      </p:pic>
      <p:pic>
        <p:nvPicPr>
          <p:cNvPr descr="preencoded.png" id="72" name="Google Shape;72;p14"/>
          <p:cNvPicPr preferRelativeResize="0"/>
          <p:nvPr/>
        </p:nvPicPr>
        <p:blipFill rotWithShape="1">
          <a:blip r:embed="rId4">
            <a:alphaModFix/>
          </a:blip>
          <a:srcRect b="0" l="0" r="0" t="0"/>
          <a:stretch/>
        </p:blipFill>
        <p:spPr>
          <a:xfrm>
            <a:off x="7518797" y="3347442"/>
            <a:ext cx="318968" cy="318968"/>
          </a:xfrm>
          <a:prstGeom prst="rect">
            <a:avLst/>
          </a:prstGeom>
          <a:noFill/>
          <a:ln>
            <a:noFill/>
          </a:ln>
        </p:spPr>
      </p:pic>
      <p:sp>
        <p:nvSpPr>
          <p:cNvPr id="73" name="Google Shape;73;p14"/>
          <p:cNvSpPr/>
          <p:nvPr/>
        </p:nvSpPr>
        <p:spPr>
          <a:xfrm>
            <a:off x="10051256" y="401681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Thinking Rationally</a:t>
            </a:r>
            <a:endParaRPr b="0" i="0" sz="2200" u="none" cap="none" strike="noStrike"/>
          </a:p>
        </p:txBody>
      </p:sp>
      <p:sp>
        <p:nvSpPr>
          <p:cNvPr id="74" name="Google Shape;74;p14"/>
          <p:cNvSpPr/>
          <p:nvPr/>
        </p:nvSpPr>
        <p:spPr>
          <a:xfrm>
            <a:off x="10051256" y="4507230"/>
            <a:ext cx="378535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Laws of Thought: Using formal logic to build intelligent programs.</a:t>
            </a:r>
            <a:endParaRPr b="0" i="0" sz="1750" u="none" cap="none" strike="noStrike"/>
          </a:p>
        </p:txBody>
      </p:sp>
      <p:pic>
        <p:nvPicPr>
          <p:cNvPr descr="preencoded.png" id="75" name="Google Shape;75;p14"/>
          <p:cNvPicPr preferRelativeResize="0"/>
          <p:nvPr/>
        </p:nvPicPr>
        <p:blipFill rotWithShape="1">
          <a:blip r:embed="rId6">
            <a:alphaModFix/>
          </a:blip>
          <a:srcRect b="0" l="0" r="0" t="0"/>
          <a:stretch/>
        </p:blipFill>
        <p:spPr>
          <a:xfrm>
            <a:off x="5032653" y="2342555"/>
            <a:ext cx="4564975" cy="4564975"/>
          </a:xfrm>
          <a:prstGeom prst="rect">
            <a:avLst/>
          </a:prstGeom>
          <a:noFill/>
          <a:ln>
            <a:noFill/>
          </a:ln>
        </p:spPr>
      </p:pic>
      <p:pic>
        <p:nvPicPr>
          <p:cNvPr descr="preencoded.png" id="76" name="Google Shape;76;p14"/>
          <p:cNvPicPr preferRelativeResize="0"/>
          <p:nvPr/>
        </p:nvPicPr>
        <p:blipFill rotWithShape="1">
          <a:blip r:embed="rId4">
            <a:alphaModFix/>
          </a:blip>
          <a:srcRect b="0" l="0" r="0" t="0"/>
          <a:stretch/>
        </p:blipFill>
        <p:spPr>
          <a:xfrm>
            <a:off x="8331041" y="4465439"/>
            <a:ext cx="318968" cy="318968"/>
          </a:xfrm>
          <a:prstGeom prst="rect">
            <a:avLst/>
          </a:prstGeom>
          <a:noFill/>
          <a:ln>
            <a:noFill/>
          </a:ln>
        </p:spPr>
      </p:pic>
      <p:sp>
        <p:nvSpPr>
          <p:cNvPr id="77" name="Google Shape;77;p14"/>
          <p:cNvSpPr/>
          <p:nvPr/>
        </p:nvSpPr>
        <p:spPr>
          <a:xfrm>
            <a:off x="9597628" y="565189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Acting Rationally</a:t>
            </a:r>
            <a:endParaRPr b="0" i="0" sz="2200" u="none" cap="none" strike="noStrike"/>
          </a:p>
        </p:txBody>
      </p:sp>
      <p:sp>
        <p:nvSpPr>
          <p:cNvPr id="78" name="Google Shape;78;p14"/>
          <p:cNvSpPr/>
          <p:nvPr/>
        </p:nvSpPr>
        <p:spPr>
          <a:xfrm>
            <a:off x="9597628" y="6142315"/>
            <a:ext cx="423898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Rational agent approach: Achieving the best expected outcome.</a:t>
            </a:r>
            <a:endParaRPr b="0" i="0" sz="1750" u="none" cap="none" strike="noStrike"/>
          </a:p>
        </p:txBody>
      </p:sp>
      <p:pic>
        <p:nvPicPr>
          <p:cNvPr descr="preencoded.png" id="79" name="Google Shape;79;p14"/>
          <p:cNvPicPr preferRelativeResize="0"/>
          <p:nvPr/>
        </p:nvPicPr>
        <p:blipFill rotWithShape="1">
          <a:blip r:embed="rId7">
            <a:alphaModFix/>
          </a:blip>
          <a:srcRect b="0" l="0" r="0" t="0"/>
          <a:stretch/>
        </p:blipFill>
        <p:spPr>
          <a:xfrm>
            <a:off x="5032653" y="2342555"/>
            <a:ext cx="4564975" cy="4564975"/>
          </a:xfrm>
          <a:prstGeom prst="rect">
            <a:avLst/>
          </a:prstGeom>
          <a:noFill/>
          <a:ln>
            <a:noFill/>
          </a:ln>
        </p:spPr>
      </p:pic>
      <p:pic>
        <p:nvPicPr>
          <p:cNvPr descr="preencoded.png" id="80" name="Google Shape;80;p14"/>
          <p:cNvPicPr preferRelativeResize="0"/>
          <p:nvPr/>
        </p:nvPicPr>
        <p:blipFill rotWithShape="1">
          <a:blip r:embed="rId4">
            <a:alphaModFix/>
          </a:blip>
          <a:srcRect b="0" l="0" r="0" t="0"/>
          <a:stretch/>
        </p:blipFill>
        <p:spPr>
          <a:xfrm>
            <a:off x="7518797" y="5583436"/>
            <a:ext cx="318968" cy="318968"/>
          </a:xfrm>
          <a:prstGeom prst="rect">
            <a:avLst/>
          </a:prstGeom>
          <a:noFill/>
          <a:ln>
            <a:noFill/>
          </a:ln>
        </p:spPr>
      </p:pic>
      <p:sp>
        <p:nvSpPr>
          <p:cNvPr id="81" name="Google Shape;81;p14"/>
          <p:cNvSpPr/>
          <p:nvPr/>
        </p:nvSpPr>
        <p:spPr>
          <a:xfrm>
            <a:off x="2197418" y="5061704"/>
            <a:ext cx="2835235"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The AI Goal</a:t>
            </a:r>
            <a:endParaRPr b="0" i="0" sz="2200" u="none" cap="none" strike="noStrike"/>
          </a:p>
        </p:txBody>
      </p:sp>
      <p:sp>
        <p:nvSpPr>
          <p:cNvPr id="82" name="Google Shape;82;p14"/>
          <p:cNvSpPr/>
          <p:nvPr/>
        </p:nvSpPr>
        <p:spPr>
          <a:xfrm>
            <a:off x="793790" y="5552123"/>
            <a:ext cx="4238863" cy="1088708"/>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Building agents that perceive the environment and take actions to maximize success.</a:t>
            </a:r>
            <a:endParaRPr b="0" i="0" sz="1750" u="none" cap="none" strike="noStrike"/>
          </a:p>
        </p:txBody>
      </p:sp>
      <p:pic>
        <p:nvPicPr>
          <p:cNvPr descr="preencoded.png" id="83" name="Google Shape;83;p14"/>
          <p:cNvPicPr preferRelativeResize="0"/>
          <p:nvPr/>
        </p:nvPicPr>
        <p:blipFill rotWithShape="1">
          <a:blip r:embed="rId8">
            <a:alphaModFix/>
          </a:blip>
          <a:srcRect b="0" l="0" r="0" t="0"/>
          <a:stretch/>
        </p:blipFill>
        <p:spPr>
          <a:xfrm>
            <a:off x="5032653" y="2342555"/>
            <a:ext cx="4564975" cy="4564975"/>
          </a:xfrm>
          <a:prstGeom prst="rect">
            <a:avLst/>
          </a:prstGeom>
          <a:noFill/>
          <a:ln>
            <a:noFill/>
          </a:ln>
        </p:spPr>
      </p:pic>
      <p:sp>
        <p:nvSpPr>
          <p:cNvPr id="84" name="Google Shape;84;p14"/>
          <p:cNvSpPr/>
          <p:nvPr/>
        </p:nvSpPr>
        <p:spPr>
          <a:xfrm>
            <a:off x="6204585" y="5116592"/>
            <a:ext cx="318968" cy="39862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2500"/>
              <a:buFont typeface="Roboto Slab"/>
              <a:buNone/>
            </a:pPr>
            <a:r>
              <a:rPr b="0" i="0" lang="en-US" sz="2500" u="none" cap="none" strike="noStrike">
                <a:solidFill>
                  <a:srgbClr val="15213F"/>
                </a:solidFill>
                <a:latin typeface="Roboto Slab"/>
                <a:ea typeface="Roboto Slab"/>
                <a:cs typeface="Roboto Slab"/>
                <a:sym typeface="Roboto Slab"/>
              </a:rPr>
              <a:t>5</a:t>
            </a:r>
            <a:endParaRPr b="0" i="0" sz="25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5"/>
          <p:cNvSpPr/>
          <p:nvPr/>
        </p:nvSpPr>
        <p:spPr>
          <a:xfrm>
            <a:off x="793790" y="963573"/>
            <a:ext cx="4914900"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257B8"/>
              </a:buClr>
              <a:buSzPts val="3550"/>
              <a:buFont typeface="Roboto Slab"/>
              <a:buNone/>
            </a:pPr>
            <a:r>
              <a:rPr b="0" i="0" lang="en-US" sz="3550" u="none" cap="none" strike="noStrike">
                <a:solidFill>
                  <a:srgbClr val="3257B8"/>
                </a:solidFill>
                <a:latin typeface="Roboto Slab"/>
                <a:ea typeface="Roboto Slab"/>
                <a:cs typeface="Roboto Slab"/>
                <a:sym typeface="Roboto Slab"/>
              </a:rPr>
              <a:t>Agents and Rationality</a:t>
            </a:r>
            <a:endParaRPr b="0" i="0" sz="3550" u="none" cap="none" strike="noStrike"/>
          </a:p>
        </p:txBody>
      </p:sp>
      <p:sp>
        <p:nvSpPr>
          <p:cNvPr id="91" name="Google Shape;91;p15"/>
          <p:cNvSpPr/>
          <p:nvPr/>
        </p:nvSpPr>
        <p:spPr>
          <a:xfrm>
            <a:off x="793790" y="2097524"/>
            <a:ext cx="5061823"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257B8"/>
              </a:buClr>
              <a:buSzPts val="2650"/>
              <a:buFont typeface="Roboto Slab"/>
              <a:buNone/>
            </a:pPr>
            <a:r>
              <a:rPr b="0" i="0" lang="en-US" sz="2650" u="none" cap="none" strike="noStrike">
                <a:solidFill>
                  <a:srgbClr val="3257B8"/>
                </a:solidFill>
                <a:latin typeface="Roboto Slab"/>
                <a:ea typeface="Roboto Slab"/>
                <a:cs typeface="Roboto Slab"/>
                <a:sym typeface="Roboto Slab"/>
              </a:rPr>
              <a:t>The Rational Agent Framework</a:t>
            </a:r>
            <a:endParaRPr b="0" i="0" sz="2650" u="none" cap="none" strike="noStrike"/>
          </a:p>
        </p:txBody>
      </p:sp>
      <p:sp>
        <p:nvSpPr>
          <p:cNvPr id="92" name="Google Shape;92;p15"/>
          <p:cNvSpPr/>
          <p:nvPr/>
        </p:nvSpPr>
        <p:spPr>
          <a:xfrm>
            <a:off x="793790" y="2749629"/>
            <a:ext cx="760428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An agent is anything that can be viewed as perceiving its environment through sensors and acting upon that environment through actuators.</a:t>
            </a:r>
            <a:endParaRPr b="0" i="0" sz="1750" u="none" cap="none" strike="noStrike"/>
          </a:p>
        </p:txBody>
      </p:sp>
      <p:sp>
        <p:nvSpPr>
          <p:cNvPr id="93" name="Google Shape;93;p15"/>
          <p:cNvSpPr/>
          <p:nvPr/>
        </p:nvSpPr>
        <p:spPr>
          <a:xfrm>
            <a:off x="793790" y="3679508"/>
            <a:ext cx="7604284"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1" i="0" lang="en-US" sz="1750" u="none" cap="none" strike="noStrike">
                <a:solidFill>
                  <a:srgbClr val="15213F"/>
                </a:solidFill>
                <a:latin typeface="Roboto"/>
                <a:ea typeface="Roboto"/>
                <a:cs typeface="Roboto"/>
                <a:sym typeface="Roboto"/>
              </a:rPr>
              <a:t>Agent:</a:t>
            </a:r>
            <a:r>
              <a:rPr b="0" i="0" lang="en-US" sz="1750" u="none" cap="none" strike="noStrike">
                <a:solidFill>
                  <a:srgbClr val="15213F"/>
                </a:solidFill>
                <a:latin typeface="Roboto"/>
                <a:ea typeface="Roboto"/>
                <a:cs typeface="Roboto"/>
                <a:sym typeface="Roboto"/>
              </a:rPr>
              <a:t> Takes actions based on its perceptions.</a:t>
            </a:r>
            <a:endParaRPr b="0" i="0" sz="1750" u="none" cap="none" strike="noStrike"/>
          </a:p>
        </p:txBody>
      </p:sp>
      <p:sp>
        <p:nvSpPr>
          <p:cNvPr id="94" name="Google Shape;94;p15"/>
          <p:cNvSpPr/>
          <p:nvPr/>
        </p:nvSpPr>
        <p:spPr>
          <a:xfrm>
            <a:off x="793790" y="4121706"/>
            <a:ext cx="760428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1" i="0" lang="en-US" sz="1750" u="none" cap="none" strike="noStrike">
                <a:solidFill>
                  <a:srgbClr val="15213F"/>
                </a:solidFill>
                <a:latin typeface="Roboto"/>
                <a:ea typeface="Roboto"/>
                <a:cs typeface="Roboto"/>
                <a:sym typeface="Roboto"/>
              </a:rPr>
              <a:t>Percept Sequence:</a:t>
            </a:r>
            <a:r>
              <a:rPr b="0" i="0" lang="en-US" sz="1750" u="none" cap="none" strike="noStrike">
                <a:solidFill>
                  <a:srgbClr val="15213F"/>
                </a:solidFill>
                <a:latin typeface="Roboto"/>
                <a:ea typeface="Roboto"/>
                <a:cs typeface="Roboto"/>
                <a:sym typeface="Roboto"/>
              </a:rPr>
              <a:t> The complete history of everything the agent has ever perceived.</a:t>
            </a:r>
            <a:endParaRPr b="0" i="0" sz="1750" u="none" cap="none" strike="noStrike"/>
          </a:p>
        </p:txBody>
      </p:sp>
      <p:sp>
        <p:nvSpPr>
          <p:cNvPr id="95" name="Google Shape;95;p15"/>
          <p:cNvSpPr/>
          <p:nvPr/>
        </p:nvSpPr>
        <p:spPr>
          <a:xfrm>
            <a:off x="793790" y="4926806"/>
            <a:ext cx="7604284"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1" i="0" lang="en-US" sz="1750" u="none" cap="none" strike="noStrike">
                <a:solidFill>
                  <a:srgbClr val="15213F"/>
                </a:solidFill>
                <a:latin typeface="Roboto"/>
                <a:ea typeface="Roboto"/>
                <a:cs typeface="Roboto"/>
                <a:sym typeface="Roboto"/>
              </a:rPr>
              <a:t>Rationality:</a:t>
            </a:r>
            <a:r>
              <a:rPr b="0" i="0" lang="en-US" sz="1750" u="none" cap="none" strike="noStrike">
                <a:solidFill>
                  <a:srgbClr val="15213F"/>
                </a:solidFill>
                <a:latin typeface="Roboto"/>
                <a:ea typeface="Roboto"/>
                <a:cs typeface="Roboto"/>
                <a:sym typeface="Roboto"/>
              </a:rPr>
              <a:t> An agent is rational if it chooses the action that is expected to maximize its performance measure, given the percept sequence and its built-in knowledge.</a:t>
            </a:r>
            <a:endParaRPr b="0" i="0" sz="1750" u="none" cap="none" strike="noStrike"/>
          </a:p>
        </p:txBody>
      </p:sp>
      <p:sp>
        <p:nvSpPr>
          <p:cNvPr id="96" name="Google Shape;96;p15"/>
          <p:cNvSpPr/>
          <p:nvPr/>
        </p:nvSpPr>
        <p:spPr>
          <a:xfrm>
            <a:off x="793790" y="6219587"/>
            <a:ext cx="7604284"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This focus on maximizing performance is key to modern AI design.</a:t>
            </a:r>
            <a:endParaRPr b="0" i="0" sz="1750" u="none" cap="none" strike="noStrike"/>
          </a:p>
        </p:txBody>
      </p:sp>
      <p:pic>
        <p:nvPicPr>
          <p:cNvPr descr="preencoded.png" id="97" name="Google Shape;97;p15"/>
          <p:cNvPicPr preferRelativeResize="0"/>
          <p:nvPr/>
        </p:nvPicPr>
        <p:blipFill rotWithShape="1">
          <a:blip r:embed="rId3">
            <a:alphaModFix/>
          </a:blip>
          <a:srcRect b="0" l="0" r="0" t="0"/>
          <a:stretch/>
        </p:blipFill>
        <p:spPr>
          <a:xfrm>
            <a:off x="8959096" y="2125861"/>
            <a:ext cx="4885015" cy="48850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p:nvPr/>
        </p:nvSpPr>
        <p:spPr>
          <a:xfrm>
            <a:off x="730687" y="574119"/>
            <a:ext cx="8066246" cy="521851"/>
          </a:xfrm>
          <a:prstGeom prst="rect">
            <a:avLst/>
          </a:prstGeom>
          <a:noFill/>
          <a:ln>
            <a:noFill/>
          </a:ln>
        </p:spPr>
        <p:txBody>
          <a:bodyPr anchorCtr="0" anchor="t" bIns="0" lIns="0" spcFirstLastPara="1" rIns="0" wrap="square" tIns="0">
            <a:noAutofit/>
          </a:bodyPr>
          <a:lstStyle/>
          <a:p>
            <a:pPr indent="0" lvl="0" marL="0" marR="0" rtl="0" algn="l">
              <a:lnSpc>
                <a:spcPct val="126153"/>
              </a:lnSpc>
              <a:spcBef>
                <a:spcPts val="0"/>
              </a:spcBef>
              <a:spcAft>
                <a:spcPts val="0"/>
              </a:spcAft>
              <a:buClr>
                <a:srgbClr val="3257B8"/>
              </a:buClr>
              <a:buSzPts val="3250"/>
              <a:buFont typeface="Roboto Slab"/>
              <a:buNone/>
            </a:pPr>
            <a:r>
              <a:rPr b="0" i="0" lang="en-US" sz="3250" u="none" cap="none" strike="noStrike">
                <a:solidFill>
                  <a:srgbClr val="3257B8"/>
                </a:solidFill>
                <a:latin typeface="Roboto Slab"/>
                <a:ea typeface="Roboto Slab"/>
                <a:cs typeface="Roboto Slab"/>
                <a:sym typeface="Roboto Slab"/>
              </a:rPr>
              <a:t>Specifying the Task Environment (PEAS)</a:t>
            </a:r>
            <a:endParaRPr b="0" i="0" sz="3250" u="none" cap="none" strike="noStrike"/>
          </a:p>
        </p:txBody>
      </p:sp>
      <p:sp>
        <p:nvSpPr>
          <p:cNvPr id="104" name="Google Shape;104;p16"/>
          <p:cNvSpPr/>
          <p:nvPr/>
        </p:nvSpPr>
        <p:spPr>
          <a:xfrm>
            <a:off x="730687" y="1513522"/>
            <a:ext cx="13169027" cy="33408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15213F"/>
              </a:buClr>
              <a:buSzPts val="1600"/>
              <a:buFont typeface="Roboto"/>
              <a:buNone/>
            </a:pPr>
            <a:r>
              <a:rPr b="0" i="0" lang="en-US" sz="1600" u="none" cap="none" strike="noStrike">
                <a:solidFill>
                  <a:srgbClr val="15213F"/>
                </a:solidFill>
                <a:latin typeface="Roboto"/>
                <a:ea typeface="Roboto"/>
                <a:cs typeface="Roboto"/>
                <a:sym typeface="Roboto"/>
              </a:rPr>
              <a:t>To design a rational agent, we must fully specify its operating environment using the PEAS framework:</a:t>
            </a:r>
            <a:endParaRPr b="0" i="0" sz="1600" u="none" cap="none" strike="noStrike"/>
          </a:p>
        </p:txBody>
      </p:sp>
      <p:sp>
        <p:nvSpPr>
          <p:cNvPr id="105" name="Google Shape;105;p16"/>
          <p:cNvSpPr/>
          <p:nvPr/>
        </p:nvSpPr>
        <p:spPr>
          <a:xfrm>
            <a:off x="730687" y="2082403"/>
            <a:ext cx="6480096" cy="626269"/>
          </a:xfrm>
          <a:prstGeom prst="roundRect">
            <a:avLst>
              <a:gd fmla="val 48006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 name="Google Shape;106;p16"/>
          <p:cNvPicPr preferRelativeResize="0"/>
          <p:nvPr/>
        </p:nvPicPr>
        <p:blipFill rotWithShape="1">
          <a:blip r:embed="rId3">
            <a:alphaModFix/>
          </a:blip>
          <a:srcRect b="0" l="0" r="0" t="0"/>
          <a:stretch/>
        </p:blipFill>
        <p:spPr>
          <a:xfrm>
            <a:off x="3814167" y="2238851"/>
            <a:ext cx="313134" cy="313134"/>
          </a:xfrm>
          <a:prstGeom prst="rect">
            <a:avLst/>
          </a:prstGeom>
          <a:noFill/>
          <a:ln>
            <a:noFill/>
          </a:ln>
        </p:spPr>
      </p:pic>
      <p:sp>
        <p:nvSpPr>
          <p:cNvPr id="107" name="Google Shape;107;p16"/>
          <p:cNvSpPr/>
          <p:nvPr/>
        </p:nvSpPr>
        <p:spPr>
          <a:xfrm>
            <a:off x="939403" y="2917388"/>
            <a:ext cx="2719268" cy="326231"/>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15213F"/>
              </a:buClr>
              <a:buSzPts val="2050"/>
              <a:buFont typeface="Roboto Slab"/>
              <a:buNone/>
            </a:pPr>
            <a:r>
              <a:rPr b="0" i="0" lang="en-US" sz="2050" u="none" cap="none" strike="noStrike">
                <a:solidFill>
                  <a:srgbClr val="15213F"/>
                </a:solidFill>
                <a:latin typeface="Roboto Slab"/>
                <a:ea typeface="Roboto Slab"/>
                <a:cs typeface="Roboto Slab"/>
                <a:sym typeface="Roboto Slab"/>
              </a:rPr>
              <a:t>Performance Measure</a:t>
            </a:r>
            <a:endParaRPr b="0" i="0" sz="2050" u="none" cap="none" strike="noStrike"/>
          </a:p>
        </p:txBody>
      </p:sp>
      <p:sp>
        <p:nvSpPr>
          <p:cNvPr id="108" name="Google Shape;108;p16"/>
          <p:cNvSpPr/>
          <p:nvPr/>
        </p:nvSpPr>
        <p:spPr>
          <a:xfrm>
            <a:off x="939403" y="3368873"/>
            <a:ext cx="6062663" cy="33408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15213F"/>
              </a:buClr>
              <a:buSzPts val="1600"/>
              <a:buFont typeface="Roboto"/>
              <a:buNone/>
            </a:pPr>
            <a:r>
              <a:rPr b="0" i="0" lang="en-US" sz="1600" u="none" cap="none" strike="noStrike">
                <a:solidFill>
                  <a:srgbClr val="15213F"/>
                </a:solidFill>
                <a:latin typeface="Roboto"/>
                <a:ea typeface="Roboto"/>
                <a:cs typeface="Roboto"/>
                <a:sym typeface="Roboto"/>
              </a:rPr>
              <a:t>Criteria for evaluating the success of the agent's behavior.</a:t>
            </a:r>
            <a:endParaRPr b="0" i="0" sz="1600" u="none" cap="none" strike="noStrike"/>
          </a:p>
        </p:txBody>
      </p:sp>
      <p:sp>
        <p:nvSpPr>
          <p:cNvPr id="109" name="Google Shape;109;p16"/>
          <p:cNvSpPr/>
          <p:nvPr/>
        </p:nvSpPr>
        <p:spPr>
          <a:xfrm>
            <a:off x="7419499" y="2082403"/>
            <a:ext cx="6480215" cy="626269"/>
          </a:xfrm>
          <a:prstGeom prst="roundRect">
            <a:avLst>
              <a:gd fmla="val 48006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16"/>
          <p:cNvPicPr preferRelativeResize="0"/>
          <p:nvPr/>
        </p:nvPicPr>
        <p:blipFill rotWithShape="1">
          <a:blip r:embed="rId3">
            <a:alphaModFix/>
          </a:blip>
          <a:srcRect b="0" l="0" r="0" t="0"/>
          <a:stretch/>
        </p:blipFill>
        <p:spPr>
          <a:xfrm>
            <a:off x="10502979" y="2238851"/>
            <a:ext cx="313134" cy="313134"/>
          </a:xfrm>
          <a:prstGeom prst="rect">
            <a:avLst/>
          </a:prstGeom>
          <a:noFill/>
          <a:ln>
            <a:noFill/>
          </a:ln>
        </p:spPr>
      </p:pic>
      <p:sp>
        <p:nvSpPr>
          <p:cNvPr id="111" name="Google Shape;111;p16"/>
          <p:cNvSpPr/>
          <p:nvPr/>
        </p:nvSpPr>
        <p:spPr>
          <a:xfrm>
            <a:off x="7628215" y="2917388"/>
            <a:ext cx="2609731" cy="326231"/>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15213F"/>
              </a:buClr>
              <a:buSzPts val="2050"/>
              <a:buFont typeface="Roboto Slab"/>
              <a:buNone/>
            </a:pPr>
            <a:r>
              <a:rPr b="0" i="0" lang="en-US" sz="2050" u="none" cap="none" strike="noStrike">
                <a:solidFill>
                  <a:srgbClr val="15213F"/>
                </a:solidFill>
                <a:latin typeface="Roboto Slab"/>
                <a:ea typeface="Roboto Slab"/>
                <a:cs typeface="Roboto Slab"/>
                <a:sym typeface="Roboto Slab"/>
              </a:rPr>
              <a:t>Environment</a:t>
            </a:r>
            <a:endParaRPr b="0" i="0" sz="2050" u="none" cap="none" strike="noStrike"/>
          </a:p>
        </p:txBody>
      </p:sp>
      <p:sp>
        <p:nvSpPr>
          <p:cNvPr id="112" name="Google Shape;112;p16"/>
          <p:cNvSpPr/>
          <p:nvPr/>
        </p:nvSpPr>
        <p:spPr>
          <a:xfrm>
            <a:off x="7628215" y="3368873"/>
            <a:ext cx="6062782" cy="66817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15213F"/>
              </a:buClr>
              <a:buSzPts val="1600"/>
              <a:buFont typeface="Roboto"/>
              <a:buNone/>
            </a:pPr>
            <a:r>
              <a:rPr b="0" i="0" lang="en-US" sz="1600" u="none" cap="none" strike="noStrike">
                <a:solidFill>
                  <a:srgbClr val="15213F"/>
                </a:solidFill>
                <a:latin typeface="Roboto"/>
                <a:ea typeface="Roboto"/>
                <a:cs typeface="Roboto"/>
                <a:sym typeface="Roboto"/>
              </a:rPr>
              <a:t>The external world the agent operates in (e.g., a dusty room, a road network).</a:t>
            </a:r>
            <a:endParaRPr b="0" i="0" sz="1600" u="none" cap="none" strike="noStrike"/>
          </a:p>
        </p:txBody>
      </p:sp>
      <p:sp>
        <p:nvSpPr>
          <p:cNvPr id="113" name="Google Shape;113;p16"/>
          <p:cNvSpPr/>
          <p:nvPr/>
        </p:nvSpPr>
        <p:spPr>
          <a:xfrm>
            <a:off x="730687" y="4454485"/>
            <a:ext cx="6480096" cy="626269"/>
          </a:xfrm>
          <a:prstGeom prst="roundRect">
            <a:avLst>
              <a:gd fmla="val 48006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 name="Google Shape;114;p16"/>
          <p:cNvPicPr preferRelativeResize="0"/>
          <p:nvPr/>
        </p:nvPicPr>
        <p:blipFill rotWithShape="1">
          <a:blip r:embed="rId3">
            <a:alphaModFix/>
          </a:blip>
          <a:srcRect b="0" l="0" r="0" t="0"/>
          <a:stretch/>
        </p:blipFill>
        <p:spPr>
          <a:xfrm>
            <a:off x="3814167" y="4610933"/>
            <a:ext cx="313134" cy="313134"/>
          </a:xfrm>
          <a:prstGeom prst="rect">
            <a:avLst/>
          </a:prstGeom>
          <a:noFill/>
          <a:ln>
            <a:noFill/>
          </a:ln>
        </p:spPr>
      </p:pic>
      <p:sp>
        <p:nvSpPr>
          <p:cNvPr id="115" name="Google Shape;115;p16"/>
          <p:cNvSpPr/>
          <p:nvPr/>
        </p:nvSpPr>
        <p:spPr>
          <a:xfrm>
            <a:off x="939403" y="5289471"/>
            <a:ext cx="2609731" cy="326231"/>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15213F"/>
              </a:buClr>
              <a:buSzPts val="2050"/>
              <a:buFont typeface="Roboto Slab"/>
              <a:buNone/>
            </a:pPr>
            <a:r>
              <a:rPr b="0" i="0" lang="en-US" sz="2050" u="none" cap="none" strike="noStrike">
                <a:solidFill>
                  <a:srgbClr val="15213F"/>
                </a:solidFill>
                <a:latin typeface="Roboto Slab"/>
                <a:ea typeface="Roboto Slab"/>
                <a:cs typeface="Roboto Slab"/>
                <a:sym typeface="Roboto Slab"/>
              </a:rPr>
              <a:t>Actuators</a:t>
            </a:r>
            <a:endParaRPr b="0" i="0" sz="2050" u="none" cap="none" strike="noStrike"/>
          </a:p>
        </p:txBody>
      </p:sp>
      <p:sp>
        <p:nvSpPr>
          <p:cNvPr id="116" name="Google Shape;116;p16"/>
          <p:cNvSpPr/>
          <p:nvPr/>
        </p:nvSpPr>
        <p:spPr>
          <a:xfrm>
            <a:off x="939403" y="5740956"/>
            <a:ext cx="6062663" cy="66817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15213F"/>
              </a:buClr>
              <a:buSzPts val="1600"/>
              <a:buFont typeface="Roboto"/>
              <a:buNone/>
            </a:pPr>
            <a:r>
              <a:rPr b="0" i="0" lang="en-US" sz="1600" u="none" cap="none" strike="noStrike">
                <a:solidFill>
                  <a:srgbClr val="15213F"/>
                </a:solidFill>
                <a:latin typeface="Roboto"/>
                <a:ea typeface="Roboto"/>
                <a:cs typeface="Roboto"/>
                <a:sym typeface="Roboto"/>
              </a:rPr>
              <a:t>The mechanisms the agent uses to affect the environment (e.g., wheels, robotic arms).</a:t>
            </a:r>
            <a:endParaRPr b="0" i="0" sz="1600" u="none" cap="none" strike="noStrike"/>
          </a:p>
        </p:txBody>
      </p:sp>
      <p:sp>
        <p:nvSpPr>
          <p:cNvPr id="117" name="Google Shape;117;p16"/>
          <p:cNvSpPr/>
          <p:nvPr/>
        </p:nvSpPr>
        <p:spPr>
          <a:xfrm>
            <a:off x="7419499" y="4454485"/>
            <a:ext cx="6480215" cy="626269"/>
          </a:xfrm>
          <a:prstGeom prst="roundRect">
            <a:avLst>
              <a:gd fmla="val 48006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16"/>
          <p:cNvPicPr preferRelativeResize="0"/>
          <p:nvPr/>
        </p:nvPicPr>
        <p:blipFill rotWithShape="1">
          <a:blip r:embed="rId3">
            <a:alphaModFix/>
          </a:blip>
          <a:srcRect b="0" l="0" r="0" t="0"/>
          <a:stretch/>
        </p:blipFill>
        <p:spPr>
          <a:xfrm>
            <a:off x="10502979" y="4610933"/>
            <a:ext cx="313134" cy="313134"/>
          </a:xfrm>
          <a:prstGeom prst="rect">
            <a:avLst/>
          </a:prstGeom>
          <a:noFill/>
          <a:ln>
            <a:noFill/>
          </a:ln>
        </p:spPr>
      </p:pic>
      <p:sp>
        <p:nvSpPr>
          <p:cNvPr id="119" name="Google Shape;119;p16"/>
          <p:cNvSpPr/>
          <p:nvPr/>
        </p:nvSpPr>
        <p:spPr>
          <a:xfrm>
            <a:off x="7628215" y="5289471"/>
            <a:ext cx="2609731" cy="326231"/>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15213F"/>
              </a:buClr>
              <a:buSzPts val="2050"/>
              <a:buFont typeface="Roboto Slab"/>
              <a:buNone/>
            </a:pPr>
            <a:r>
              <a:rPr b="0" i="0" lang="en-US" sz="2050" u="none" cap="none" strike="noStrike">
                <a:solidFill>
                  <a:srgbClr val="15213F"/>
                </a:solidFill>
                <a:latin typeface="Roboto Slab"/>
                <a:ea typeface="Roboto Slab"/>
                <a:cs typeface="Roboto Slab"/>
                <a:sym typeface="Roboto Slab"/>
              </a:rPr>
              <a:t>Sensors</a:t>
            </a:r>
            <a:endParaRPr b="0" i="0" sz="2050" u="none" cap="none" strike="noStrike"/>
          </a:p>
        </p:txBody>
      </p:sp>
      <p:sp>
        <p:nvSpPr>
          <p:cNvPr id="120" name="Google Shape;120;p16"/>
          <p:cNvSpPr/>
          <p:nvPr/>
        </p:nvSpPr>
        <p:spPr>
          <a:xfrm>
            <a:off x="7628215" y="5740956"/>
            <a:ext cx="6062782" cy="66817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15213F"/>
              </a:buClr>
              <a:buSzPts val="1600"/>
              <a:buFont typeface="Roboto"/>
              <a:buNone/>
            </a:pPr>
            <a:r>
              <a:rPr b="0" i="0" lang="en-US" sz="1600" u="none" cap="none" strike="noStrike">
                <a:solidFill>
                  <a:srgbClr val="15213F"/>
                </a:solidFill>
                <a:latin typeface="Roboto"/>
                <a:ea typeface="Roboto"/>
                <a:cs typeface="Roboto"/>
                <a:sym typeface="Roboto"/>
              </a:rPr>
              <a:t>The tools used to perceive the environment (e.g., cameras, GPS, infrared sensors).</a:t>
            </a:r>
            <a:endParaRPr b="0" i="0" sz="1600" u="none" cap="none" strike="noStrike"/>
          </a:p>
        </p:txBody>
      </p:sp>
      <p:sp>
        <p:nvSpPr>
          <p:cNvPr id="121" name="Google Shape;121;p16"/>
          <p:cNvSpPr/>
          <p:nvPr/>
        </p:nvSpPr>
        <p:spPr>
          <a:xfrm>
            <a:off x="1043821" y="7087433"/>
            <a:ext cx="12855893" cy="33408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15213F"/>
              </a:buClr>
              <a:buSzPts val="1600"/>
              <a:buFont typeface="Roboto"/>
              <a:buNone/>
            </a:pPr>
            <a:r>
              <a:rPr b="0" i="0" lang="en-US" sz="1600" u="none" cap="none" strike="noStrike">
                <a:solidFill>
                  <a:srgbClr val="15213F"/>
                </a:solidFill>
                <a:latin typeface="Roboto"/>
                <a:ea typeface="Roboto"/>
                <a:cs typeface="Roboto"/>
                <a:sym typeface="Roboto"/>
              </a:rPr>
              <a:t>Example: For an autonomous taxi, P=Safety/Profit/Legality, E=Roads/Traffic/Pedestrians, A=Steering/Braking, S=Cameras/Lidar/Sonar.</a:t>
            </a:r>
            <a:endParaRPr b="0" i="0" sz="1600" u="none" cap="none" strike="noStrike"/>
          </a:p>
        </p:txBody>
      </p:sp>
      <p:sp>
        <p:nvSpPr>
          <p:cNvPr id="122" name="Google Shape;122;p16"/>
          <p:cNvSpPr/>
          <p:nvPr/>
        </p:nvSpPr>
        <p:spPr>
          <a:xfrm>
            <a:off x="730687" y="6852642"/>
            <a:ext cx="22860" cy="803672"/>
          </a:xfrm>
          <a:prstGeom prst="rect">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p:nvPr/>
        </p:nvSpPr>
        <p:spPr>
          <a:xfrm>
            <a:off x="793790" y="1153597"/>
            <a:ext cx="7956828"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257B8"/>
              </a:buClr>
              <a:buSzPts val="3550"/>
              <a:buFont typeface="Roboto Slab"/>
              <a:buNone/>
            </a:pPr>
            <a:r>
              <a:rPr b="0" i="0" lang="en-US" sz="3550" u="none" cap="none" strike="noStrike">
                <a:solidFill>
                  <a:srgbClr val="3257B8"/>
                </a:solidFill>
                <a:latin typeface="Roboto Slab"/>
                <a:ea typeface="Roboto Slab"/>
                <a:cs typeface="Roboto Slab"/>
                <a:sym typeface="Roboto Slab"/>
              </a:rPr>
              <a:t>Key Properties of Task Environments</a:t>
            </a:r>
            <a:endParaRPr b="0" i="0" sz="3550" u="none" cap="none" strike="noStrike"/>
          </a:p>
        </p:txBody>
      </p:sp>
      <p:sp>
        <p:nvSpPr>
          <p:cNvPr id="129" name="Google Shape;129;p17"/>
          <p:cNvSpPr/>
          <p:nvPr/>
        </p:nvSpPr>
        <p:spPr>
          <a:xfrm>
            <a:off x="793790" y="2174200"/>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Understanding the environment's properties dictates the complexity of the required agent design.</a:t>
            </a:r>
            <a:endParaRPr b="0" i="0" sz="1750" u="none" cap="none" strike="noStrike"/>
          </a:p>
        </p:txBody>
      </p:sp>
      <p:sp>
        <p:nvSpPr>
          <p:cNvPr id="130" name="Google Shape;130;p17"/>
          <p:cNvSpPr/>
          <p:nvPr/>
        </p:nvSpPr>
        <p:spPr>
          <a:xfrm>
            <a:off x="793790" y="2792254"/>
            <a:ext cx="4196358" cy="2387084"/>
          </a:xfrm>
          <a:prstGeom prst="roundRect">
            <a:avLst>
              <a:gd fmla="val 22806"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1020604" y="3019068"/>
            <a:ext cx="3742730" cy="70866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Fully vs. Partially Observable</a:t>
            </a:r>
            <a:endParaRPr b="0" i="0" sz="2200" u="none" cap="none" strike="noStrike"/>
          </a:p>
        </p:txBody>
      </p:sp>
      <p:sp>
        <p:nvSpPr>
          <p:cNvPr id="132" name="Google Shape;132;p17"/>
          <p:cNvSpPr/>
          <p:nvPr/>
        </p:nvSpPr>
        <p:spPr>
          <a:xfrm>
            <a:off x="1020604" y="3863816"/>
            <a:ext cx="3742730" cy="1088708"/>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Does the agent's sensors give it access to the complete state of the environment?</a:t>
            </a:r>
            <a:endParaRPr b="0" i="0" sz="1750" u="none" cap="none" strike="noStrike"/>
          </a:p>
        </p:txBody>
      </p:sp>
      <p:sp>
        <p:nvSpPr>
          <p:cNvPr id="133" name="Google Shape;133;p17"/>
          <p:cNvSpPr/>
          <p:nvPr/>
        </p:nvSpPr>
        <p:spPr>
          <a:xfrm>
            <a:off x="5216962" y="2792254"/>
            <a:ext cx="4196358" cy="2387084"/>
          </a:xfrm>
          <a:prstGeom prst="roundRect">
            <a:avLst>
              <a:gd fmla="val 22806"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a:off x="5843111" y="3019068"/>
            <a:ext cx="2944058"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Single vs. Multi Agent</a:t>
            </a:r>
            <a:endParaRPr b="0" i="0" sz="2200" u="none" cap="none" strike="noStrike"/>
          </a:p>
        </p:txBody>
      </p:sp>
      <p:sp>
        <p:nvSpPr>
          <p:cNvPr id="135" name="Google Shape;135;p17"/>
          <p:cNvSpPr/>
          <p:nvPr/>
        </p:nvSpPr>
        <p:spPr>
          <a:xfrm>
            <a:off x="5443776" y="3509486"/>
            <a:ext cx="3742730"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Are other agents present? Cooperative or competitive?</a:t>
            </a:r>
            <a:endParaRPr b="0" i="0" sz="1750" u="none" cap="none" strike="noStrike"/>
          </a:p>
        </p:txBody>
      </p:sp>
      <p:sp>
        <p:nvSpPr>
          <p:cNvPr id="136" name="Google Shape;136;p17"/>
          <p:cNvSpPr/>
          <p:nvPr/>
        </p:nvSpPr>
        <p:spPr>
          <a:xfrm>
            <a:off x="9640133" y="2792254"/>
            <a:ext cx="4196358" cy="2387084"/>
          </a:xfrm>
          <a:prstGeom prst="roundRect">
            <a:avLst>
              <a:gd fmla="val 22806"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9876473" y="3019068"/>
            <a:ext cx="3723680"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Deterministic vs. Stochastic</a:t>
            </a:r>
            <a:endParaRPr b="0" i="0" sz="2200" u="none" cap="none" strike="noStrike"/>
          </a:p>
        </p:txBody>
      </p:sp>
      <p:sp>
        <p:nvSpPr>
          <p:cNvPr id="138" name="Google Shape;138;p17"/>
          <p:cNvSpPr/>
          <p:nvPr/>
        </p:nvSpPr>
        <p:spPr>
          <a:xfrm>
            <a:off x="9866948" y="3509486"/>
            <a:ext cx="3742730"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Is the next state entirely determined by the current state and action?</a:t>
            </a:r>
            <a:endParaRPr b="0" i="0" sz="1750" u="none" cap="none" strike="noStrike"/>
          </a:p>
        </p:txBody>
      </p:sp>
      <p:sp>
        <p:nvSpPr>
          <p:cNvPr id="139" name="Google Shape;139;p17"/>
          <p:cNvSpPr/>
          <p:nvPr/>
        </p:nvSpPr>
        <p:spPr>
          <a:xfrm>
            <a:off x="793790" y="5406152"/>
            <a:ext cx="6407944" cy="1669852"/>
          </a:xfrm>
          <a:prstGeom prst="roundRect">
            <a:avLst>
              <a:gd fmla="val 32601"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a:off x="2461141" y="5632966"/>
            <a:ext cx="3073122"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Episodic vs. Sequential</a:t>
            </a:r>
            <a:endParaRPr b="0" i="0" sz="2200" u="none" cap="none" strike="noStrike"/>
          </a:p>
        </p:txBody>
      </p:sp>
      <p:sp>
        <p:nvSpPr>
          <p:cNvPr id="141" name="Google Shape;141;p17"/>
          <p:cNvSpPr/>
          <p:nvPr/>
        </p:nvSpPr>
        <p:spPr>
          <a:xfrm>
            <a:off x="1020604" y="6123384"/>
            <a:ext cx="5954316"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Are current actions independent of previous ones, or do they affect future decisions?</a:t>
            </a:r>
            <a:endParaRPr b="0" i="0" sz="1750" u="none" cap="none" strike="noStrike"/>
          </a:p>
        </p:txBody>
      </p:sp>
      <p:sp>
        <p:nvSpPr>
          <p:cNvPr id="142" name="Google Shape;142;p17"/>
          <p:cNvSpPr/>
          <p:nvPr/>
        </p:nvSpPr>
        <p:spPr>
          <a:xfrm>
            <a:off x="7428548" y="5406152"/>
            <a:ext cx="6407944" cy="1669852"/>
          </a:xfrm>
          <a:prstGeom prst="roundRect">
            <a:avLst>
              <a:gd fmla="val 32601"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a:off x="9074825" y="5632966"/>
            <a:ext cx="3115389"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5213F"/>
              </a:buClr>
              <a:buSzPts val="2200"/>
              <a:buFont typeface="Roboto Slab"/>
              <a:buNone/>
            </a:pPr>
            <a:r>
              <a:rPr b="0" i="0" lang="en-US" sz="2200" u="none" cap="none" strike="noStrike">
                <a:solidFill>
                  <a:srgbClr val="15213F"/>
                </a:solidFill>
                <a:latin typeface="Roboto Slab"/>
                <a:ea typeface="Roboto Slab"/>
                <a:cs typeface="Roboto Slab"/>
                <a:sym typeface="Roboto Slab"/>
              </a:rPr>
              <a:t>Discrete vs. Continuous</a:t>
            </a:r>
            <a:endParaRPr b="0" i="0" sz="2200" u="none" cap="none" strike="noStrike"/>
          </a:p>
        </p:txBody>
      </p:sp>
      <p:sp>
        <p:nvSpPr>
          <p:cNvPr id="144" name="Google Shape;144;p17"/>
          <p:cNvSpPr/>
          <p:nvPr/>
        </p:nvSpPr>
        <p:spPr>
          <a:xfrm>
            <a:off x="7655362" y="6123384"/>
            <a:ext cx="5954316"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Does the state space, time, and performance measure take discrete or continuous values?</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p:nvPr/>
        </p:nvSpPr>
        <p:spPr>
          <a:xfrm>
            <a:off x="733425" y="743664"/>
            <a:ext cx="8368546" cy="523875"/>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3257B8"/>
              </a:buClr>
              <a:buSzPts val="3300"/>
              <a:buFont typeface="Roboto Slab"/>
              <a:buNone/>
            </a:pPr>
            <a:r>
              <a:rPr b="0" i="0" lang="en-US" sz="3300" u="none" cap="none" strike="noStrike">
                <a:solidFill>
                  <a:srgbClr val="3257B8"/>
                </a:solidFill>
                <a:latin typeface="Roboto Slab"/>
                <a:ea typeface="Roboto Slab"/>
                <a:cs typeface="Roboto Slab"/>
                <a:sym typeface="Roboto Slab"/>
              </a:rPr>
              <a:t>Agent Structures: From Simple to Complex</a:t>
            </a:r>
            <a:endParaRPr b="0" i="0" sz="3300" u="none" cap="none" strike="noStrike"/>
          </a:p>
        </p:txBody>
      </p:sp>
      <p:pic>
        <p:nvPicPr>
          <p:cNvPr descr="preencoded.png" id="151" name="Google Shape;151;p18"/>
          <p:cNvPicPr preferRelativeResize="0"/>
          <p:nvPr/>
        </p:nvPicPr>
        <p:blipFill rotWithShape="1">
          <a:blip r:embed="rId3">
            <a:alphaModFix/>
          </a:blip>
          <a:srcRect b="0" l="0" r="0" t="0"/>
          <a:stretch/>
        </p:blipFill>
        <p:spPr>
          <a:xfrm>
            <a:off x="3566398" y="1686639"/>
            <a:ext cx="7497485" cy="3431381"/>
          </a:xfrm>
          <a:prstGeom prst="rect">
            <a:avLst/>
          </a:prstGeom>
          <a:noFill/>
          <a:ln>
            <a:noFill/>
          </a:ln>
        </p:spPr>
      </p:pic>
      <p:pic>
        <p:nvPicPr>
          <p:cNvPr descr="preencoded.png" id="152" name="Google Shape;152;p18"/>
          <p:cNvPicPr preferRelativeResize="0"/>
          <p:nvPr/>
        </p:nvPicPr>
        <p:blipFill rotWithShape="1">
          <a:blip r:embed="rId4">
            <a:alphaModFix/>
          </a:blip>
          <a:srcRect b="0" l="0" r="0" t="0"/>
          <a:stretch/>
        </p:blipFill>
        <p:spPr>
          <a:xfrm>
            <a:off x="9736756" y="2543363"/>
            <a:ext cx="482058" cy="482058"/>
          </a:xfrm>
          <a:prstGeom prst="rect">
            <a:avLst/>
          </a:prstGeom>
          <a:noFill/>
          <a:ln>
            <a:noFill/>
          </a:ln>
        </p:spPr>
      </p:pic>
      <p:sp>
        <p:nvSpPr>
          <p:cNvPr id="153" name="Google Shape;153;p18"/>
          <p:cNvSpPr/>
          <p:nvPr/>
        </p:nvSpPr>
        <p:spPr>
          <a:xfrm>
            <a:off x="9307274" y="4303175"/>
            <a:ext cx="1407608" cy="271157"/>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15213F"/>
              </a:buClr>
              <a:buSzPts val="1350"/>
              <a:buFont typeface="Roboto Slab"/>
              <a:buNone/>
            </a:pPr>
            <a:r>
              <a:rPr b="0" i="0" lang="en-US" sz="1350" u="none" cap="none" strike="noStrike">
                <a:solidFill>
                  <a:srgbClr val="15213F"/>
                </a:solidFill>
                <a:latin typeface="Roboto Slab"/>
                <a:ea typeface="Roboto Slab"/>
                <a:cs typeface="Roboto Slab"/>
                <a:sym typeface="Roboto Slab"/>
              </a:rPr>
              <a:t>Utility-Based</a:t>
            </a:r>
            <a:endParaRPr b="0" i="0" sz="1350" u="none" cap="none" strike="noStrike"/>
          </a:p>
        </p:txBody>
      </p:sp>
      <p:pic>
        <p:nvPicPr>
          <p:cNvPr descr="preencoded.png" id="154" name="Google Shape;154;p18"/>
          <p:cNvPicPr preferRelativeResize="0"/>
          <p:nvPr/>
        </p:nvPicPr>
        <p:blipFill rotWithShape="1">
          <a:blip r:embed="rId4">
            <a:alphaModFix/>
          </a:blip>
          <a:srcRect b="0" l="0" r="0" t="0"/>
          <a:stretch/>
        </p:blipFill>
        <p:spPr>
          <a:xfrm>
            <a:off x="7971973" y="2544267"/>
            <a:ext cx="482058" cy="482058"/>
          </a:xfrm>
          <a:prstGeom prst="rect">
            <a:avLst/>
          </a:prstGeom>
          <a:noFill/>
          <a:ln>
            <a:noFill/>
          </a:ln>
        </p:spPr>
      </p:pic>
      <p:sp>
        <p:nvSpPr>
          <p:cNvPr id="155" name="Google Shape;155;p18"/>
          <p:cNvSpPr/>
          <p:nvPr/>
        </p:nvSpPr>
        <p:spPr>
          <a:xfrm>
            <a:off x="7533301" y="4303175"/>
            <a:ext cx="1407608" cy="271157"/>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15213F"/>
              </a:buClr>
              <a:buSzPts val="1350"/>
              <a:buFont typeface="Roboto Slab"/>
              <a:buNone/>
            </a:pPr>
            <a:r>
              <a:rPr b="0" i="0" lang="en-US" sz="1350" u="none" cap="none" strike="noStrike">
                <a:solidFill>
                  <a:srgbClr val="15213F"/>
                </a:solidFill>
                <a:latin typeface="Roboto Slab"/>
                <a:ea typeface="Roboto Slab"/>
                <a:cs typeface="Roboto Slab"/>
                <a:sym typeface="Roboto Slab"/>
              </a:rPr>
              <a:t>Goal-Based</a:t>
            </a:r>
            <a:endParaRPr b="0" i="0" sz="1350" u="none" cap="none" strike="noStrike"/>
          </a:p>
        </p:txBody>
      </p:sp>
      <p:pic>
        <p:nvPicPr>
          <p:cNvPr descr="preencoded.png" id="156" name="Google Shape;156;p18"/>
          <p:cNvPicPr preferRelativeResize="0"/>
          <p:nvPr/>
        </p:nvPicPr>
        <p:blipFill rotWithShape="1">
          <a:blip r:embed="rId4">
            <a:alphaModFix/>
          </a:blip>
          <a:srcRect b="0" l="0" r="0" t="0"/>
          <a:stretch/>
        </p:blipFill>
        <p:spPr>
          <a:xfrm>
            <a:off x="6207642" y="2544267"/>
            <a:ext cx="482058" cy="482058"/>
          </a:xfrm>
          <a:prstGeom prst="rect">
            <a:avLst/>
          </a:prstGeom>
          <a:noFill/>
          <a:ln>
            <a:noFill/>
          </a:ln>
        </p:spPr>
      </p:pic>
      <p:sp>
        <p:nvSpPr>
          <p:cNvPr id="157" name="Google Shape;157;p18"/>
          <p:cNvSpPr/>
          <p:nvPr/>
        </p:nvSpPr>
        <p:spPr>
          <a:xfrm>
            <a:off x="5768969" y="4167597"/>
            <a:ext cx="1407608" cy="542315"/>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15213F"/>
              </a:buClr>
              <a:buSzPts val="1350"/>
              <a:buFont typeface="Roboto Slab"/>
              <a:buNone/>
            </a:pPr>
            <a:r>
              <a:rPr b="0" i="0" lang="en-US" sz="1350" u="none" cap="none" strike="noStrike">
                <a:solidFill>
                  <a:srgbClr val="15213F"/>
                </a:solidFill>
                <a:latin typeface="Roboto Slab"/>
                <a:ea typeface="Roboto Slab"/>
                <a:cs typeface="Roboto Slab"/>
                <a:sym typeface="Roboto Slab"/>
              </a:rPr>
              <a:t>Model-Based Reflex</a:t>
            </a:r>
            <a:endParaRPr b="0" i="0" sz="1350" u="none" cap="none" strike="noStrike"/>
          </a:p>
        </p:txBody>
      </p:sp>
      <p:pic>
        <p:nvPicPr>
          <p:cNvPr descr="preencoded.png" id="158" name="Google Shape;158;p18"/>
          <p:cNvPicPr preferRelativeResize="0"/>
          <p:nvPr/>
        </p:nvPicPr>
        <p:blipFill rotWithShape="1">
          <a:blip r:embed="rId4">
            <a:alphaModFix/>
          </a:blip>
          <a:srcRect b="0" l="0" r="0" t="0"/>
          <a:stretch/>
        </p:blipFill>
        <p:spPr>
          <a:xfrm>
            <a:off x="4433669" y="2544267"/>
            <a:ext cx="482058" cy="482058"/>
          </a:xfrm>
          <a:prstGeom prst="rect">
            <a:avLst/>
          </a:prstGeom>
          <a:noFill/>
          <a:ln>
            <a:noFill/>
          </a:ln>
        </p:spPr>
      </p:pic>
      <p:sp>
        <p:nvSpPr>
          <p:cNvPr id="159" name="Google Shape;159;p18"/>
          <p:cNvSpPr/>
          <p:nvPr/>
        </p:nvSpPr>
        <p:spPr>
          <a:xfrm>
            <a:off x="3966073" y="4303175"/>
            <a:ext cx="1407608" cy="271157"/>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15213F"/>
              </a:buClr>
              <a:buSzPts val="1350"/>
              <a:buFont typeface="Roboto Slab"/>
              <a:buNone/>
            </a:pPr>
            <a:r>
              <a:rPr b="0" i="0" lang="en-US" sz="1350" u="none" cap="none" strike="noStrike">
                <a:solidFill>
                  <a:srgbClr val="15213F"/>
                </a:solidFill>
                <a:latin typeface="Roboto Slab"/>
                <a:ea typeface="Roboto Slab"/>
                <a:cs typeface="Roboto Slab"/>
                <a:sym typeface="Roboto Slab"/>
              </a:rPr>
              <a:t>Simple Reflex</a:t>
            </a:r>
            <a:endParaRPr b="0" i="0" sz="1350" u="none" cap="none" strike="noStrike"/>
          </a:p>
        </p:txBody>
      </p:sp>
      <p:sp>
        <p:nvSpPr>
          <p:cNvPr id="160" name="Google Shape;160;p18"/>
          <p:cNvSpPr/>
          <p:nvPr/>
        </p:nvSpPr>
        <p:spPr>
          <a:xfrm>
            <a:off x="733425" y="5353764"/>
            <a:ext cx="13163550" cy="33528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15213F"/>
              </a:buClr>
              <a:buSzPts val="1650"/>
              <a:buFont typeface="Roboto"/>
              <a:buNone/>
            </a:pPr>
            <a:r>
              <a:rPr b="0" i="0" lang="en-US" sz="1650" u="none" cap="none" strike="noStrike">
                <a:solidFill>
                  <a:srgbClr val="15213F"/>
                </a:solidFill>
                <a:latin typeface="Roboto"/>
                <a:ea typeface="Roboto"/>
                <a:cs typeface="Roboto"/>
                <a:sym typeface="Roboto"/>
              </a:rPr>
              <a:t>The structure of an AI agent determines how it uses its percept history and internal knowledge to select actions.</a:t>
            </a:r>
            <a:endParaRPr b="0" i="0" sz="1650" u="none" cap="none" strike="noStrike"/>
          </a:p>
        </p:txBody>
      </p:sp>
      <p:sp>
        <p:nvSpPr>
          <p:cNvPr id="161" name="Google Shape;161;p18"/>
          <p:cNvSpPr/>
          <p:nvPr/>
        </p:nvSpPr>
        <p:spPr>
          <a:xfrm>
            <a:off x="733425" y="5924788"/>
            <a:ext cx="13163550" cy="33528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15213F"/>
              </a:buClr>
              <a:buSzPts val="1650"/>
              <a:buFont typeface="Roboto"/>
              <a:buNone/>
            </a:pPr>
            <a:r>
              <a:rPr b="1" i="0" lang="en-US" sz="1650" u="none" cap="none" strike="noStrike">
                <a:solidFill>
                  <a:srgbClr val="15213F"/>
                </a:solidFill>
                <a:latin typeface="Roboto"/>
                <a:ea typeface="Roboto"/>
                <a:cs typeface="Roboto"/>
                <a:sym typeface="Roboto"/>
              </a:rPr>
              <a:t>Reflex Agents:</a:t>
            </a:r>
            <a:r>
              <a:rPr b="0" i="0" lang="en-US" sz="1650" u="none" cap="none" strike="noStrike">
                <a:solidFill>
                  <a:srgbClr val="15213F"/>
                </a:solidFill>
                <a:latin typeface="Roboto"/>
                <a:ea typeface="Roboto"/>
                <a:cs typeface="Roboto"/>
                <a:sym typeface="Roboto"/>
              </a:rPr>
              <a:t> Respond directly to perceived states (fast but limited).</a:t>
            </a:r>
            <a:endParaRPr b="0" i="0" sz="1650" u="none" cap="none" strike="noStrike"/>
          </a:p>
        </p:txBody>
      </p:sp>
      <p:sp>
        <p:nvSpPr>
          <p:cNvPr id="162" name="Google Shape;162;p18"/>
          <p:cNvSpPr/>
          <p:nvPr/>
        </p:nvSpPr>
        <p:spPr>
          <a:xfrm>
            <a:off x="733425" y="6333411"/>
            <a:ext cx="13163550" cy="33528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15213F"/>
              </a:buClr>
              <a:buSzPts val="1650"/>
              <a:buFont typeface="Roboto"/>
              <a:buNone/>
            </a:pPr>
            <a:r>
              <a:rPr b="1" i="0" lang="en-US" sz="1650" u="none" cap="none" strike="noStrike">
                <a:solidFill>
                  <a:srgbClr val="15213F"/>
                </a:solidFill>
                <a:latin typeface="Roboto"/>
                <a:ea typeface="Roboto"/>
                <a:cs typeface="Roboto"/>
                <a:sym typeface="Roboto"/>
              </a:rPr>
              <a:t>Model-Based Agents:</a:t>
            </a:r>
            <a:r>
              <a:rPr b="0" i="0" lang="en-US" sz="1650" u="none" cap="none" strike="noStrike">
                <a:solidFill>
                  <a:srgbClr val="15213F"/>
                </a:solidFill>
                <a:latin typeface="Roboto"/>
                <a:ea typeface="Roboto"/>
                <a:cs typeface="Roboto"/>
                <a:sym typeface="Roboto"/>
              </a:rPr>
              <a:t> Maintain an internal state of the world to handle partial observability.</a:t>
            </a:r>
            <a:endParaRPr b="0" i="0" sz="1650" u="none" cap="none" strike="noStrike"/>
          </a:p>
        </p:txBody>
      </p:sp>
      <p:sp>
        <p:nvSpPr>
          <p:cNvPr id="163" name="Google Shape;163;p18"/>
          <p:cNvSpPr/>
          <p:nvPr/>
        </p:nvSpPr>
        <p:spPr>
          <a:xfrm>
            <a:off x="733425" y="6742033"/>
            <a:ext cx="13163550" cy="33528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15213F"/>
              </a:buClr>
              <a:buSzPts val="1650"/>
              <a:buFont typeface="Roboto"/>
              <a:buNone/>
            </a:pPr>
            <a:r>
              <a:rPr b="1" i="0" lang="en-US" sz="1650" u="none" cap="none" strike="noStrike">
                <a:solidFill>
                  <a:srgbClr val="15213F"/>
                </a:solidFill>
                <a:latin typeface="Roboto"/>
                <a:ea typeface="Roboto"/>
                <a:cs typeface="Roboto"/>
                <a:sym typeface="Roboto"/>
              </a:rPr>
              <a:t>Goal-Based Agents:</a:t>
            </a:r>
            <a:r>
              <a:rPr b="0" i="0" lang="en-US" sz="1650" u="none" cap="none" strike="noStrike">
                <a:solidFill>
                  <a:srgbClr val="15213F"/>
                </a:solidFill>
                <a:latin typeface="Roboto"/>
                <a:ea typeface="Roboto"/>
                <a:cs typeface="Roboto"/>
                <a:sym typeface="Roboto"/>
              </a:rPr>
              <a:t> Use goal information to choose actions that lead to a desirable state.</a:t>
            </a:r>
            <a:endParaRPr b="0" i="0" sz="1650" u="none" cap="none" strike="noStrike"/>
          </a:p>
        </p:txBody>
      </p:sp>
      <p:sp>
        <p:nvSpPr>
          <p:cNvPr id="164" name="Google Shape;164;p18"/>
          <p:cNvSpPr/>
          <p:nvPr/>
        </p:nvSpPr>
        <p:spPr>
          <a:xfrm>
            <a:off x="733425" y="7150656"/>
            <a:ext cx="13163550" cy="33528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15213F"/>
              </a:buClr>
              <a:buSzPts val="1650"/>
              <a:buFont typeface="Roboto"/>
              <a:buNone/>
            </a:pPr>
            <a:r>
              <a:rPr b="1" i="0" lang="en-US" sz="1650" u="none" cap="none" strike="noStrike">
                <a:solidFill>
                  <a:srgbClr val="15213F"/>
                </a:solidFill>
                <a:latin typeface="Roboto"/>
                <a:ea typeface="Roboto"/>
                <a:cs typeface="Roboto"/>
                <a:sym typeface="Roboto"/>
              </a:rPr>
              <a:t>Utility-Based Agents:</a:t>
            </a:r>
            <a:r>
              <a:rPr b="0" i="0" lang="en-US" sz="1650" u="none" cap="none" strike="noStrike">
                <a:solidFill>
                  <a:srgbClr val="15213F"/>
                </a:solidFill>
                <a:latin typeface="Roboto"/>
                <a:ea typeface="Roboto"/>
                <a:cs typeface="Roboto"/>
                <a:sym typeface="Roboto"/>
              </a:rPr>
              <a:t> Choose actions that maximize their "utility" (preference for states) when goals conflict or multiple paths exist.</a:t>
            </a:r>
            <a:endParaRPr b="0" i="0" sz="16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preencoded.png" id="170" name="Google Shape;170;p19"/>
          <p:cNvPicPr preferRelativeResize="0"/>
          <p:nvPr/>
        </p:nvPicPr>
        <p:blipFill rotWithShape="1">
          <a:blip r:embed="rId3">
            <a:alphaModFix/>
          </a:blip>
          <a:srcRect b="0" l="0" r="0" t="0"/>
          <a:stretch/>
        </p:blipFill>
        <p:spPr>
          <a:xfrm>
            <a:off x="0" y="0"/>
            <a:ext cx="14630400" cy="2693194"/>
          </a:xfrm>
          <a:prstGeom prst="rect">
            <a:avLst/>
          </a:prstGeom>
          <a:noFill/>
          <a:ln>
            <a:noFill/>
          </a:ln>
        </p:spPr>
      </p:pic>
      <p:sp>
        <p:nvSpPr>
          <p:cNvPr id="171" name="Google Shape;171;p19"/>
          <p:cNvSpPr/>
          <p:nvPr/>
        </p:nvSpPr>
        <p:spPr>
          <a:xfrm>
            <a:off x="754023" y="3285649"/>
            <a:ext cx="9171146" cy="538520"/>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3257B8"/>
              </a:buClr>
              <a:buSzPts val="3350"/>
              <a:buFont typeface="Roboto Slab"/>
              <a:buNone/>
            </a:pPr>
            <a:r>
              <a:rPr b="0" i="0" lang="en-US" sz="3350" u="none" cap="none" strike="noStrike">
                <a:solidFill>
                  <a:srgbClr val="3257B8"/>
                </a:solidFill>
                <a:latin typeface="Roboto Slab"/>
                <a:ea typeface="Roboto Slab"/>
                <a:cs typeface="Roboto Slab"/>
                <a:sym typeface="Roboto Slab"/>
              </a:rPr>
              <a:t>Problem-Solving Agents: Search Foundations</a:t>
            </a:r>
            <a:endParaRPr b="0" i="0" sz="3350" u="none" cap="none" strike="noStrike"/>
          </a:p>
        </p:txBody>
      </p:sp>
      <p:sp>
        <p:nvSpPr>
          <p:cNvPr id="172" name="Google Shape;172;p19"/>
          <p:cNvSpPr/>
          <p:nvPr/>
        </p:nvSpPr>
        <p:spPr>
          <a:xfrm>
            <a:off x="754023" y="4147304"/>
            <a:ext cx="13122354"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5213F"/>
              </a:buClr>
              <a:buSzPts val="1650"/>
              <a:buFont typeface="Roboto"/>
              <a:buNone/>
            </a:pPr>
            <a:r>
              <a:rPr b="0" i="0" lang="en-US" sz="1650" u="none" cap="none" strike="noStrike">
                <a:solidFill>
                  <a:srgbClr val="15213F"/>
                </a:solidFill>
                <a:latin typeface="Roboto"/>
                <a:ea typeface="Roboto"/>
                <a:cs typeface="Roboto"/>
                <a:sym typeface="Roboto"/>
              </a:rPr>
              <a:t>Many AI tasks can be framed as search problems, where the agent needs to find a sequence of actions that leads from the initial state to a goal state.</a:t>
            </a:r>
            <a:endParaRPr b="0" i="0" sz="1650" u="none" cap="none" strike="noStrike"/>
          </a:p>
        </p:txBody>
      </p:sp>
      <p:sp>
        <p:nvSpPr>
          <p:cNvPr id="173" name="Google Shape;173;p19"/>
          <p:cNvSpPr/>
          <p:nvPr/>
        </p:nvSpPr>
        <p:spPr>
          <a:xfrm>
            <a:off x="754023" y="5079206"/>
            <a:ext cx="6453426" cy="2562820"/>
          </a:xfrm>
          <a:prstGeom prst="roundRect">
            <a:avLst>
              <a:gd fmla="val 5709" name="adj"/>
            </a:avLst>
          </a:prstGeom>
          <a:solidFill>
            <a:srgbClr val="FBFCFE"/>
          </a:solidFill>
          <a:ln cap="flat" cmpd="sng" w="304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4" name="Google Shape;174;p19"/>
          <p:cNvPicPr preferRelativeResize="0"/>
          <p:nvPr/>
        </p:nvPicPr>
        <p:blipFill rotWithShape="1">
          <a:blip r:embed="rId4">
            <a:alphaModFix/>
          </a:blip>
          <a:srcRect b="0" l="0" r="0" t="0"/>
          <a:stretch/>
        </p:blipFill>
        <p:spPr>
          <a:xfrm>
            <a:off x="723543" y="5079206"/>
            <a:ext cx="121920" cy="2562820"/>
          </a:xfrm>
          <a:prstGeom prst="rect">
            <a:avLst/>
          </a:prstGeom>
          <a:noFill/>
          <a:ln>
            <a:noFill/>
          </a:ln>
        </p:spPr>
      </p:pic>
      <p:sp>
        <p:nvSpPr>
          <p:cNvPr id="175" name="Google Shape;175;p19"/>
          <p:cNvSpPr/>
          <p:nvPr/>
        </p:nvSpPr>
        <p:spPr>
          <a:xfrm>
            <a:off x="1091327" y="5325070"/>
            <a:ext cx="4459843"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15213F"/>
              </a:buClr>
              <a:buSzPts val="2100"/>
              <a:buFont typeface="Roboto Slab"/>
              <a:buNone/>
            </a:pPr>
            <a:r>
              <a:rPr b="0" i="0" lang="en-US" sz="2100" u="none" cap="none" strike="noStrike">
                <a:solidFill>
                  <a:srgbClr val="15213F"/>
                </a:solidFill>
                <a:latin typeface="Roboto Slab"/>
                <a:ea typeface="Roboto Slab"/>
                <a:cs typeface="Roboto Slab"/>
                <a:sym typeface="Roboto Slab"/>
              </a:rPr>
              <a:t>Well-Defined Problem Components</a:t>
            </a:r>
            <a:endParaRPr b="0" i="0" sz="2100" u="none" cap="none" strike="noStrike"/>
          </a:p>
        </p:txBody>
      </p:sp>
      <p:sp>
        <p:nvSpPr>
          <p:cNvPr id="176" name="Google Shape;176;p19"/>
          <p:cNvSpPr/>
          <p:nvPr/>
        </p:nvSpPr>
        <p:spPr>
          <a:xfrm>
            <a:off x="1091327" y="5790843"/>
            <a:ext cx="5870257" cy="344805"/>
          </a:xfrm>
          <a:prstGeom prst="rect">
            <a:avLst/>
          </a:prstGeom>
          <a:noFill/>
          <a:ln>
            <a:noFill/>
          </a:ln>
        </p:spPr>
        <p:txBody>
          <a:bodyPr anchorCtr="0" anchor="t" bIns="0" lIns="0" spcFirstLastPara="1" rIns="0" wrap="square" tIns="0">
            <a:noAutofit/>
          </a:bodyPr>
          <a:lstStyle/>
          <a:p>
            <a:pPr indent="-342900" lvl="0" marL="342900" marR="0" rtl="0" algn="l">
              <a:lnSpc>
                <a:spcPct val="163636"/>
              </a:lnSpc>
              <a:spcBef>
                <a:spcPts val="0"/>
              </a:spcBef>
              <a:spcAft>
                <a:spcPts val="0"/>
              </a:spcAft>
              <a:buClr>
                <a:srgbClr val="15213F"/>
              </a:buClr>
              <a:buSzPts val="1650"/>
              <a:buFont typeface="Roboto"/>
              <a:buChar char="•"/>
            </a:pPr>
            <a:r>
              <a:rPr b="0" i="0" lang="en-US" sz="1650" u="none" cap="none" strike="noStrike">
                <a:solidFill>
                  <a:srgbClr val="15213F"/>
                </a:solidFill>
                <a:latin typeface="Roboto"/>
                <a:ea typeface="Roboto"/>
                <a:cs typeface="Roboto"/>
                <a:sym typeface="Roboto"/>
              </a:rPr>
              <a:t>Initial state</a:t>
            </a:r>
            <a:endParaRPr b="0" i="0" sz="1650" u="none" cap="none" strike="noStrike"/>
          </a:p>
        </p:txBody>
      </p:sp>
      <p:sp>
        <p:nvSpPr>
          <p:cNvPr id="177" name="Google Shape;177;p19"/>
          <p:cNvSpPr/>
          <p:nvPr/>
        </p:nvSpPr>
        <p:spPr>
          <a:xfrm>
            <a:off x="1091327" y="6211014"/>
            <a:ext cx="5870257" cy="344805"/>
          </a:xfrm>
          <a:prstGeom prst="rect">
            <a:avLst/>
          </a:prstGeom>
          <a:noFill/>
          <a:ln>
            <a:noFill/>
          </a:ln>
        </p:spPr>
        <p:txBody>
          <a:bodyPr anchorCtr="0" anchor="t" bIns="0" lIns="0" spcFirstLastPara="1" rIns="0" wrap="square" tIns="0">
            <a:noAutofit/>
          </a:bodyPr>
          <a:lstStyle/>
          <a:p>
            <a:pPr indent="-342900" lvl="0" marL="342900" marR="0" rtl="0" algn="l">
              <a:lnSpc>
                <a:spcPct val="163636"/>
              </a:lnSpc>
              <a:spcBef>
                <a:spcPts val="0"/>
              </a:spcBef>
              <a:spcAft>
                <a:spcPts val="0"/>
              </a:spcAft>
              <a:buClr>
                <a:srgbClr val="15213F"/>
              </a:buClr>
              <a:buSzPts val="1650"/>
              <a:buFont typeface="Roboto"/>
              <a:buChar char="•"/>
            </a:pPr>
            <a:r>
              <a:rPr b="0" i="0" lang="en-US" sz="1650" u="none" cap="none" strike="noStrike">
                <a:solidFill>
                  <a:srgbClr val="15213F"/>
                </a:solidFill>
                <a:latin typeface="Roboto"/>
                <a:ea typeface="Roboto"/>
                <a:cs typeface="Roboto"/>
                <a:sym typeface="Roboto"/>
              </a:rPr>
              <a:t>Action set (successor function)</a:t>
            </a:r>
            <a:endParaRPr b="0" i="0" sz="1650" u="none" cap="none" strike="noStrike"/>
          </a:p>
        </p:txBody>
      </p:sp>
      <p:sp>
        <p:nvSpPr>
          <p:cNvPr id="178" name="Google Shape;178;p19"/>
          <p:cNvSpPr/>
          <p:nvPr/>
        </p:nvSpPr>
        <p:spPr>
          <a:xfrm>
            <a:off x="1091327" y="6631186"/>
            <a:ext cx="5870257" cy="344805"/>
          </a:xfrm>
          <a:prstGeom prst="rect">
            <a:avLst/>
          </a:prstGeom>
          <a:noFill/>
          <a:ln>
            <a:noFill/>
          </a:ln>
        </p:spPr>
        <p:txBody>
          <a:bodyPr anchorCtr="0" anchor="t" bIns="0" lIns="0" spcFirstLastPara="1" rIns="0" wrap="square" tIns="0">
            <a:noAutofit/>
          </a:bodyPr>
          <a:lstStyle/>
          <a:p>
            <a:pPr indent="-342900" lvl="0" marL="342900" marR="0" rtl="0" algn="l">
              <a:lnSpc>
                <a:spcPct val="163636"/>
              </a:lnSpc>
              <a:spcBef>
                <a:spcPts val="0"/>
              </a:spcBef>
              <a:spcAft>
                <a:spcPts val="0"/>
              </a:spcAft>
              <a:buClr>
                <a:srgbClr val="15213F"/>
              </a:buClr>
              <a:buSzPts val="1650"/>
              <a:buFont typeface="Roboto"/>
              <a:buChar char="•"/>
            </a:pPr>
            <a:r>
              <a:rPr b="0" i="0" lang="en-US" sz="1650" u="none" cap="none" strike="noStrike">
                <a:solidFill>
                  <a:srgbClr val="15213F"/>
                </a:solidFill>
                <a:latin typeface="Roboto"/>
                <a:ea typeface="Roboto"/>
                <a:cs typeface="Roboto"/>
                <a:sym typeface="Roboto"/>
              </a:rPr>
              <a:t>Goal test</a:t>
            </a:r>
            <a:endParaRPr b="0" i="0" sz="1650" u="none" cap="none" strike="noStrike"/>
          </a:p>
        </p:txBody>
      </p:sp>
      <p:sp>
        <p:nvSpPr>
          <p:cNvPr id="179" name="Google Shape;179;p19"/>
          <p:cNvSpPr/>
          <p:nvPr/>
        </p:nvSpPr>
        <p:spPr>
          <a:xfrm>
            <a:off x="1091327" y="7051358"/>
            <a:ext cx="5870257" cy="344805"/>
          </a:xfrm>
          <a:prstGeom prst="rect">
            <a:avLst/>
          </a:prstGeom>
          <a:noFill/>
          <a:ln>
            <a:noFill/>
          </a:ln>
        </p:spPr>
        <p:txBody>
          <a:bodyPr anchorCtr="0" anchor="t" bIns="0" lIns="0" spcFirstLastPara="1" rIns="0" wrap="square" tIns="0">
            <a:noAutofit/>
          </a:bodyPr>
          <a:lstStyle/>
          <a:p>
            <a:pPr indent="-342900" lvl="0" marL="342900" marR="0" rtl="0" algn="l">
              <a:lnSpc>
                <a:spcPct val="163636"/>
              </a:lnSpc>
              <a:spcBef>
                <a:spcPts val="0"/>
              </a:spcBef>
              <a:spcAft>
                <a:spcPts val="0"/>
              </a:spcAft>
              <a:buClr>
                <a:srgbClr val="15213F"/>
              </a:buClr>
              <a:buSzPts val="1650"/>
              <a:buFont typeface="Roboto"/>
              <a:buChar char="•"/>
            </a:pPr>
            <a:r>
              <a:rPr b="0" i="0" lang="en-US" sz="1650" u="none" cap="none" strike="noStrike">
                <a:solidFill>
                  <a:srgbClr val="15213F"/>
                </a:solidFill>
                <a:latin typeface="Roboto"/>
                <a:ea typeface="Roboto"/>
                <a:cs typeface="Roboto"/>
                <a:sym typeface="Roboto"/>
              </a:rPr>
              <a:t>Path cost function</a:t>
            </a:r>
            <a:endParaRPr b="0" i="0" sz="1650" u="none" cap="none" strike="noStrike"/>
          </a:p>
        </p:txBody>
      </p:sp>
      <p:sp>
        <p:nvSpPr>
          <p:cNvPr id="180" name="Google Shape;180;p19"/>
          <p:cNvSpPr/>
          <p:nvPr/>
        </p:nvSpPr>
        <p:spPr>
          <a:xfrm>
            <a:off x="7422833" y="5079206"/>
            <a:ext cx="6453545" cy="2562820"/>
          </a:xfrm>
          <a:prstGeom prst="roundRect">
            <a:avLst>
              <a:gd fmla="val 5709" name="adj"/>
            </a:avLst>
          </a:prstGeom>
          <a:solidFill>
            <a:srgbClr val="FBFCFE"/>
          </a:solidFill>
          <a:ln cap="flat" cmpd="sng" w="304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19"/>
          <p:cNvPicPr preferRelativeResize="0"/>
          <p:nvPr/>
        </p:nvPicPr>
        <p:blipFill rotWithShape="1">
          <a:blip r:embed="rId4">
            <a:alphaModFix/>
          </a:blip>
          <a:srcRect b="0" l="0" r="0" t="0"/>
          <a:stretch/>
        </p:blipFill>
        <p:spPr>
          <a:xfrm>
            <a:off x="7392353" y="5079206"/>
            <a:ext cx="121920" cy="2562820"/>
          </a:xfrm>
          <a:prstGeom prst="rect">
            <a:avLst/>
          </a:prstGeom>
          <a:noFill/>
          <a:ln>
            <a:noFill/>
          </a:ln>
        </p:spPr>
      </p:pic>
      <p:sp>
        <p:nvSpPr>
          <p:cNvPr id="182" name="Google Shape;182;p19"/>
          <p:cNvSpPr/>
          <p:nvPr/>
        </p:nvSpPr>
        <p:spPr>
          <a:xfrm>
            <a:off x="7760137" y="5325070"/>
            <a:ext cx="2693194"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15213F"/>
              </a:buClr>
              <a:buSzPts val="2100"/>
              <a:buFont typeface="Roboto Slab"/>
              <a:buNone/>
            </a:pPr>
            <a:r>
              <a:rPr b="0" i="0" lang="en-US" sz="2100" u="none" cap="none" strike="noStrike">
                <a:solidFill>
                  <a:srgbClr val="15213F"/>
                </a:solidFill>
                <a:latin typeface="Roboto Slab"/>
                <a:ea typeface="Roboto Slab"/>
                <a:cs typeface="Roboto Slab"/>
                <a:sym typeface="Roboto Slab"/>
              </a:rPr>
              <a:t>Solution</a:t>
            </a:r>
            <a:endParaRPr b="0" i="0" sz="2100" u="none" cap="none" strike="noStrike"/>
          </a:p>
        </p:txBody>
      </p:sp>
      <p:sp>
        <p:nvSpPr>
          <p:cNvPr id="183" name="Google Shape;183;p19"/>
          <p:cNvSpPr/>
          <p:nvPr/>
        </p:nvSpPr>
        <p:spPr>
          <a:xfrm>
            <a:off x="7760137" y="5790843"/>
            <a:ext cx="5870377"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5213F"/>
              </a:buClr>
              <a:buSzPts val="1650"/>
              <a:buFont typeface="Roboto"/>
              <a:buNone/>
            </a:pPr>
            <a:r>
              <a:rPr b="0" i="0" lang="en-US" sz="1650" u="none" cap="none" strike="noStrike">
                <a:solidFill>
                  <a:srgbClr val="15213F"/>
                </a:solidFill>
                <a:latin typeface="Roboto"/>
                <a:ea typeface="Roboto"/>
                <a:cs typeface="Roboto"/>
                <a:sym typeface="Roboto"/>
              </a:rPr>
              <a:t>A sequence of actions leading from the initial state to a goal state.</a:t>
            </a:r>
            <a:endParaRPr b="0" i="0" sz="1650" u="none" cap="none" strike="noStrike"/>
          </a:p>
        </p:txBody>
      </p:sp>
      <p:sp>
        <p:nvSpPr>
          <p:cNvPr id="184" name="Google Shape;184;p19"/>
          <p:cNvSpPr/>
          <p:nvPr/>
        </p:nvSpPr>
        <p:spPr>
          <a:xfrm>
            <a:off x="7760137" y="6609636"/>
            <a:ext cx="5870377" cy="68961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5213F"/>
              </a:buClr>
              <a:buSzPts val="1650"/>
              <a:buFont typeface="Roboto"/>
              <a:buNone/>
            </a:pPr>
            <a:r>
              <a:rPr b="0" i="0" lang="en-US" sz="1650" u="none" cap="none" strike="noStrike">
                <a:solidFill>
                  <a:srgbClr val="15213F"/>
                </a:solidFill>
                <a:latin typeface="Roboto"/>
                <a:ea typeface="Roboto"/>
                <a:cs typeface="Roboto"/>
                <a:sym typeface="Roboto"/>
              </a:rPr>
              <a:t>Finding the optimal solution often involves searching through the state space tree.</a:t>
            </a:r>
            <a:endParaRPr b="0" i="0" sz="16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p:nvPr/>
        </p:nvSpPr>
        <p:spPr>
          <a:xfrm>
            <a:off x="779383" y="613053"/>
            <a:ext cx="5941100" cy="556736"/>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3257B8"/>
              </a:buClr>
              <a:buSzPts val="3500"/>
              <a:buFont typeface="Roboto Slab"/>
              <a:buNone/>
            </a:pPr>
            <a:r>
              <a:rPr b="0" i="0" lang="en-US" sz="3500" u="none" cap="none" strike="noStrike">
                <a:solidFill>
                  <a:srgbClr val="3257B8"/>
                </a:solidFill>
                <a:latin typeface="Roboto Slab"/>
                <a:ea typeface="Roboto Slab"/>
                <a:cs typeface="Roboto Slab"/>
                <a:sym typeface="Roboto Slab"/>
              </a:rPr>
              <a:t>Illustrative Search Problems</a:t>
            </a:r>
            <a:endParaRPr b="0" i="0" sz="3500" u="none" cap="none" strike="noStrike"/>
          </a:p>
        </p:txBody>
      </p:sp>
      <p:sp>
        <p:nvSpPr>
          <p:cNvPr id="191" name="Google Shape;191;p20"/>
          <p:cNvSpPr/>
          <p:nvPr/>
        </p:nvSpPr>
        <p:spPr>
          <a:xfrm>
            <a:off x="779383" y="1615083"/>
            <a:ext cx="13071634" cy="35623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These "toy problems" are used to test and compare the performance of various search algorithms:</a:t>
            </a:r>
            <a:endParaRPr b="0" i="0" sz="1750" u="none" cap="none" strike="noStrike"/>
          </a:p>
        </p:txBody>
      </p:sp>
      <p:pic>
        <p:nvPicPr>
          <p:cNvPr descr="preencoded.png" id="192" name="Google Shape;192;p20"/>
          <p:cNvPicPr preferRelativeResize="0"/>
          <p:nvPr/>
        </p:nvPicPr>
        <p:blipFill rotWithShape="1">
          <a:blip r:embed="rId3">
            <a:alphaModFix/>
          </a:blip>
          <a:srcRect b="0" l="0" r="0" t="0"/>
          <a:stretch/>
        </p:blipFill>
        <p:spPr>
          <a:xfrm>
            <a:off x="787003" y="2365296"/>
            <a:ext cx="4233386" cy="2672358"/>
          </a:xfrm>
          <a:prstGeom prst="rect">
            <a:avLst/>
          </a:prstGeom>
          <a:noFill/>
          <a:ln>
            <a:noFill/>
          </a:ln>
        </p:spPr>
      </p:pic>
      <p:pic>
        <p:nvPicPr>
          <p:cNvPr descr="preencoded.png" id="193" name="Google Shape;193;p20"/>
          <p:cNvPicPr preferRelativeResize="0"/>
          <p:nvPr/>
        </p:nvPicPr>
        <p:blipFill rotWithShape="1">
          <a:blip r:embed="rId4">
            <a:alphaModFix/>
          </a:blip>
          <a:srcRect b="0" l="0" r="0" t="0"/>
          <a:stretch/>
        </p:blipFill>
        <p:spPr>
          <a:xfrm>
            <a:off x="5198507" y="2365296"/>
            <a:ext cx="4233386" cy="2672358"/>
          </a:xfrm>
          <a:prstGeom prst="rect">
            <a:avLst/>
          </a:prstGeom>
          <a:noFill/>
          <a:ln>
            <a:noFill/>
          </a:ln>
        </p:spPr>
      </p:pic>
      <p:pic>
        <p:nvPicPr>
          <p:cNvPr descr="preencoded.png" id="194" name="Google Shape;194;p20"/>
          <p:cNvPicPr preferRelativeResize="0"/>
          <p:nvPr/>
        </p:nvPicPr>
        <p:blipFill rotWithShape="1">
          <a:blip r:embed="rId5">
            <a:alphaModFix/>
          </a:blip>
          <a:srcRect b="0" l="0" r="0" t="0"/>
          <a:stretch/>
        </p:blipFill>
        <p:spPr>
          <a:xfrm>
            <a:off x="9610011" y="2365296"/>
            <a:ext cx="4233386" cy="2672358"/>
          </a:xfrm>
          <a:prstGeom prst="rect">
            <a:avLst/>
          </a:prstGeom>
          <a:noFill/>
          <a:ln>
            <a:noFill/>
          </a:ln>
        </p:spPr>
      </p:pic>
      <p:sp>
        <p:nvSpPr>
          <p:cNvPr id="195" name="Google Shape;195;p20"/>
          <p:cNvSpPr/>
          <p:nvPr/>
        </p:nvSpPr>
        <p:spPr>
          <a:xfrm>
            <a:off x="779383" y="5709999"/>
            <a:ext cx="2783681" cy="347901"/>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15213F"/>
              </a:buClr>
              <a:buSzPts val="2150"/>
              <a:buFont typeface="Roboto Slab"/>
              <a:buNone/>
            </a:pPr>
            <a:r>
              <a:rPr b="0" i="0" lang="en-US" sz="2150" u="none" cap="none" strike="noStrike">
                <a:solidFill>
                  <a:srgbClr val="15213F"/>
                </a:solidFill>
                <a:latin typeface="Roboto Slab"/>
                <a:ea typeface="Roboto Slab"/>
                <a:cs typeface="Roboto Slab"/>
                <a:sym typeface="Roboto Slab"/>
              </a:rPr>
              <a:t>Vacuum World</a:t>
            </a:r>
            <a:endParaRPr b="0" i="0" sz="2150" u="none" cap="none" strike="noStrike"/>
          </a:p>
        </p:txBody>
      </p:sp>
      <p:sp>
        <p:nvSpPr>
          <p:cNvPr id="196" name="Google Shape;196;p20"/>
          <p:cNvSpPr/>
          <p:nvPr/>
        </p:nvSpPr>
        <p:spPr>
          <a:xfrm>
            <a:off x="779383" y="6191488"/>
            <a:ext cx="4171593" cy="10687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Simple environment to illustrate basic reflex and goal-based behavior in a discrete, deterministic setting.</a:t>
            </a:r>
            <a:endParaRPr b="0" i="0" sz="1750" u="none" cap="none" strike="noStrike"/>
          </a:p>
        </p:txBody>
      </p:sp>
      <p:sp>
        <p:nvSpPr>
          <p:cNvPr id="197" name="Google Shape;197;p20"/>
          <p:cNvSpPr/>
          <p:nvPr/>
        </p:nvSpPr>
        <p:spPr>
          <a:xfrm>
            <a:off x="5229344" y="5709999"/>
            <a:ext cx="2867025" cy="347901"/>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15213F"/>
              </a:buClr>
              <a:buSzPts val="2150"/>
              <a:buFont typeface="Roboto Slab"/>
              <a:buNone/>
            </a:pPr>
            <a:r>
              <a:rPr b="0" i="0" lang="en-US" sz="2150" u="none" cap="none" strike="noStrike">
                <a:solidFill>
                  <a:srgbClr val="15213F"/>
                </a:solidFill>
                <a:latin typeface="Roboto Slab"/>
                <a:ea typeface="Roboto Slab"/>
                <a:cs typeface="Roboto Slab"/>
                <a:sym typeface="Roboto Slab"/>
              </a:rPr>
              <a:t>8-Puzzle (Tile Sliding)</a:t>
            </a:r>
            <a:endParaRPr b="0" i="0" sz="2150" u="none" cap="none" strike="noStrike"/>
          </a:p>
        </p:txBody>
      </p:sp>
      <p:sp>
        <p:nvSpPr>
          <p:cNvPr id="198" name="Google Shape;198;p20"/>
          <p:cNvSpPr/>
          <p:nvPr/>
        </p:nvSpPr>
        <p:spPr>
          <a:xfrm>
            <a:off x="5229344" y="6191488"/>
            <a:ext cx="4171593" cy="10687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A classic testbed for search algorithms; often used to compare the efficiency of heuristic search methods.</a:t>
            </a:r>
            <a:endParaRPr b="0" i="0" sz="1750" u="none" cap="none" strike="noStrike"/>
          </a:p>
        </p:txBody>
      </p:sp>
      <p:sp>
        <p:nvSpPr>
          <p:cNvPr id="199" name="Google Shape;199;p20"/>
          <p:cNvSpPr/>
          <p:nvPr/>
        </p:nvSpPr>
        <p:spPr>
          <a:xfrm>
            <a:off x="9679305" y="5709999"/>
            <a:ext cx="2783681" cy="347901"/>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15213F"/>
              </a:buClr>
              <a:buSzPts val="2150"/>
              <a:buFont typeface="Roboto Slab"/>
              <a:buNone/>
            </a:pPr>
            <a:r>
              <a:rPr b="0" i="0" lang="en-US" sz="2150" u="none" cap="none" strike="noStrike">
                <a:solidFill>
                  <a:srgbClr val="15213F"/>
                </a:solidFill>
                <a:latin typeface="Roboto Slab"/>
                <a:ea typeface="Roboto Slab"/>
                <a:cs typeface="Roboto Slab"/>
                <a:sym typeface="Roboto Slab"/>
              </a:rPr>
              <a:t>8 Queens Problem</a:t>
            </a:r>
            <a:endParaRPr b="0" i="0" sz="2150" u="none" cap="none" strike="noStrike"/>
          </a:p>
        </p:txBody>
      </p:sp>
      <p:sp>
        <p:nvSpPr>
          <p:cNvPr id="200" name="Google Shape;200;p20"/>
          <p:cNvSpPr/>
          <p:nvPr/>
        </p:nvSpPr>
        <p:spPr>
          <a:xfrm>
            <a:off x="9679305" y="6191488"/>
            <a:ext cx="4171593" cy="142494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A constraint satisfaction problem solved via search, where eight queens must be placed on a chessboard without attacking each other.</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p:nvPr/>
        </p:nvSpPr>
        <p:spPr>
          <a:xfrm>
            <a:off x="793790" y="1285518"/>
            <a:ext cx="9041725"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257B8"/>
              </a:buClr>
              <a:buSzPts val="3550"/>
              <a:buFont typeface="Roboto Slab"/>
              <a:buNone/>
            </a:pPr>
            <a:r>
              <a:rPr b="0" i="0" lang="en-US" sz="3550" u="none" cap="none" strike="noStrike">
                <a:solidFill>
                  <a:srgbClr val="3257B8"/>
                </a:solidFill>
                <a:latin typeface="Roboto Slab"/>
                <a:ea typeface="Roboto Slab"/>
                <a:cs typeface="Roboto Slab"/>
                <a:sym typeface="Roboto Slab"/>
              </a:rPr>
              <a:t>Search Strategies: Uninformed &amp; Informed</a:t>
            </a:r>
            <a:endParaRPr b="0" i="0" sz="3550" u="none" cap="none" strike="noStrike"/>
          </a:p>
        </p:txBody>
      </p:sp>
      <p:sp>
        <p:nvSpPr>
          <p:cNvPr id="207" name="Google Shape;207;p21"/>
          <p:cNvSpPr/>
          <p:nvPr/>
        </p:nvSpPr>
        <p:spPr>
          <a:xfrm>
            <a:off x="793790" y="2306122"/>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Search strategies are categorized based on whether they use problem-specific knowledge (heuristics) to guide the search.</a:t>
            </a:r>
            <a:endParaRPr b="0" i="0" sz="1750" u="none" cap="none" strike="noStrike"/>
          </a:p>
        </p:txBody>
      </p:sp>
      <p:sp>
        <p:nvSpPr>
          <p:cNvPr id="208" name="Google Shape;208;p21"/>
          <p:cNvSpPr/>
          <p:nvPr/>
        </p:nvSpPr>
        <p:spPr>
          <a:xfrm>
            <a:off x="793790" y="3150989"/>
            <a:ext cx="4313992"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257B8"/>
              </a:buClr>
              <a:buSzPts val="2650"/>
              <a:buFont typeface="Roboto Slab"/>
              <a:buNone/>
            </a:pPr>
            <a:r>
              <a:rPr b="0" i="0" lang="en-US" sz="2650" u="none" cap="none" strike="noStrike">
                <a:solidFill>
                  <a:srgbClr val="3257B8"/>
                </a:solidFill>
                <a:latin typeface="Roboto Slab"/>
                <a:ea typeface="Roboto Slab"/>
                <a:cs typeface="Roboto Slab"/>
                <a:sym typeface="Roboto Slab"/>
              </a:rPr>
              <a:t>Uninformed Search (Blind)</a:t>
            </a:r>
            <a:endParaRPr b="0" i="0" sz="2650" u="none" cap="none" strike="noStrike"/>
          </a:p>
        </p:txBody>
      </p:sp>
      <p:sp>
        <p:nvSpPr>
          <p:cNvPr id="209" name="Google Shape;209;p21"/>
          <p:cNvSpPr/>
          <p:nvPr/>
        </p:nvSpPr>
        <p:spPr>
          <a:xfrm>
            <a:off x="793790" y="3803094"/>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Explores the state space without any extra information about the goal location.</a:t>
            </a:r>
            <a:endParaRPr b="0" i="0" sz="1750" u="none" cap="none" strike="noStrike"/>
          </a:p>
        </p:txBody>
      </p:sp>
      <p:sp>
        <p:nvSpPr>
          <p:cNvPr id="210" name="Google Shape;210;p21"/>
          <p:cNvSpPr/>
          <p:nvPr/>
        </p:nvSpPr>
        <p:spPr>
          <a:xfrm>
            <a:off x="793790" y="4732973"/>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Breadth-First Search (BFS)</a:t>
            </a:r>
            <a:endParaRPr b="0" i="0" sz="1750" u="none" cap="none" strike="noStrike"/>
          </a:p>
        </p:txBody>
      </p:sp>
      <p:sp>
        <p:nvSpPr>
          <p:cNvPr id="211" name="Google Shape;211;p21"/>
          <p:cNvSpPr/>
          <p:nvPr/>
        </p:nvSpPr>
        <p:spPr>
          <a:xfrm>
            <a:off x="793790" y="517517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Depth-First Search (DFS)</a:t>
            </a:r>
            <a:endParaRPr b="0" i="0" sz="1750" u="none" cap="none" strike="noStrike"/>
          </a:p>
        </p:txBody>
      </p:sp>
      <p:sp>
        <p:nvSpPr>
          <p:cNvPr id="212" name="Google Shape;212;p21"/>
          <p:cNvSpPr/>
          <p:nvPr/>
        </p:nvSpPr>
        <p:spPr>
          <a:xfrm>
            <a:off x="793790" y="5617369"/>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Depth-Limited Search (DLS)</a:t>
            </a:r>
            <a:endParaRPr b="0" i="0" sz="1750" u="none" cap="none" strike="noStrike"/>
          </a:p>
        </p:txBody>
      </p:sp>
      <p:sp>
        <p:nvSpPr>
          <p:cNvPr id="213" name="Google Shape;213;p21"/>
          <p:cNvSpPr/>
          <p:nvPr/>
        </p:nvSpPr>
        <p:spPr>
          <a:xfrm>
            <a:off x="793790" y="6059567"/>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Iterative Deepening Search (IDS)</a:t>
            </a:r>
            <a:endParaRPr b="0" i="0" sz="1750" u="none" cap="none" strike="noStrike"/>
          </a:p>
        </p:txBody>
      </p:sp>
      <p:sp>
        <p:nvSpPr>
          <p:cNvPr id="214" name="Google Shape;214;p21"/>
          <p:cNvSpPr/>
          <p:nvPr/>
        </p:nvSpPr>
        <p:spPr>
          <a:xfrm>
            <a:off x="793790" y="6501765"/>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Bidirectional Search</a:t>
            </a:r>
            <a:endParaRPr b="0" i="0" sz="1750" u="none" cap="none" strike="noStrike"/>
          </a:p>
        </p:txBody>
      </p:sp>
      <p:sp>
        <p:nvSpPr>
          <p:cNvPr id="215" name="Google Shape;215;p21"/>
          <p:cNvSpPr/>
          <p:nvPr/>
        </p:nvSpPr>
        <p:spPr>
          <a:xfrm>
            <a:off x="7599521" y="3150989"/>
            <a:ext cx="4455081"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257B8"/>
              </a:buClr>
              <a:buSzPts val="2650"/>
              <a:buFont typeface="Roboto Slab"/>
              <a:buNone/>
            </a:pPr>
            <a:r>
              <a:rPr b="0" i="0" lang="en-US" sz="2650" u="none" cap="none" strike="noStrike">
                <a:solidFill>
                  <a:srgbClr val="3257B8"/>
                </a:solidFill>
                <a:latin typeface="Roboto Slab"/>
                <a:ea typeface="Roboto Slab"/>
                <a:cs typeface="Roboto Slab"/>
                <a:sym typeface="Roboto Slab"/>
              </a:rPr>
              <a:t>Informed Search (Heuristic)</a:t>
            </a:r>
            <a:endParaRPr b="0" i="0" sz="2650" u="none" cap="none" strike="noStrike"/>
          </a:p>
        </p:txBody>
      </p:sp>
      <p:sp>
        <p:nvSpPr>
          <p:cNvPr id="216" name="Google Shape;216;p21"/>
          <p:cNvSpPr/>
          <p:nvPr/>
        </p:nvSpPr>
        <p:spPr>
          <a:xfrm>
            <a:off x="7599521" y="3803094"/>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5213F"/>
              </a:buClr>
              <a:buSzPts val="1750"/>
              <a:buFont typeface="Roboto"/>
              <a:buNone/>
            </a:pPr>
            <a:r>
              <a:rPr b="0" i="0" lang="en-US" sz="1750" u="none" cap="none" strike="noStrike">
                <a:solidFill>
                  <a:srgbClr val="15213F"/>
                </a:solidFill>
                <a:latin typeface="Roboto"/>
                <a:ea typeface="Roboto"/>
                <a:cs typeface="Roboto"/>
                <a:sym typeface="Roboto"/>
              </a:rPr>
              <a:t>Uses an evaluation function to estimate the cost from the current state to the goal.</a:t>
            </a:r>
            <a:endParaRPr b="0" i="0" sz="1750" u="none" cap="none" strike="noStrike"/>
          </a:p>
        </p:txBody>
      </p:sp>
      <p:sp>
        <p:nvSpPr>
          <p:cNvPr id="217" name="Google Shape;217;p21"/>
          <p:cNvSpPr/>
          <p:nvPr/>
        </p:nvSpPr>
        <p:spPr>
          <a:xfrm>
            <a:off x="7599521" y="4732973"/>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Greedy Best-First Search</a:t>
            </a:r>
            <a:endParaRPr b="0" i="0" sz="1750" u="none" cap="none" strike="noStrike"/>
          </a:p>
        </p:txBody>
      </p:sp>
      <p:sp>
        <p:nvSpPr>
          <p:cNvPr id="218" name="Google Shape;218;p21"/>
          <p:cNvSpPr/>
          <p:nvPr/>
        </p:nvSpPr>
        <p:spPr>
          <a:xfrm>
            <a:off x="7599521" y="517517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A* Algorithm (Optimal and complete)</a:t>
            </a:r>
            <a:endParaRPr b="0" i="0" sz="1750" u="none" cap="none" strike="noStrike"/>
          </a:p>
        </p:txBody>
      </p:sp>
      <p:sp>
        <p:nvSpPr>
          <p:cNvPr id="219" name="Google Shape;219;p21"/>
          <p:cNvSpPr/>
          <p:nvPr/>
        </p:nvSpPr>
        <p:spPr>
          <a:xfrm>
            <a:off x="7599521" y="5617369"/>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Hill-Climbing Search</a:t>
            </a:r>
            <a:endParaRPr b="0" i="0" sz="1750" u="none" cap="none" strike="noStrike"/>
          </a:p>
        </p:txBody>
      </p:sp>
      <p:sp>
        <p:nvSpPr>
          <p:cNvPr id="220" name="Google Shape;220;p21"/>
          <p:cNvSpPr/>
          <p:nvPr/>
        </p:nvSpPr>
        <p:spPr>
          <a:xfrm>
            <a:off x="7599521" y="6059567"/>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Local Beam Search</a:t>
            </a:r>
            <a:endParaRPr b="0" i="0" sz="1750" u="none" cap="none" strike="noStrike"/>
          </a:p>
        </p:txBody>
      </p:sp>
      <p:sp>
        <p:nvSpPr>
          <p:cNvPr id="221" name="Google Shape;221;p21"/>
          <p:cNvSpPr/>
          <p:nvPr/>
        </p:nvSpPr>
        <p:spPr>
          <a:xfrm>
            <a:off x="7599521" y="6501765"/>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5213F"/>
              </a:buClr>
              <a:buSzPts val="1750"/>
              <a:buFont typeface="Roboto"/>
              <a:buChar char="•"/>
            </a:pPr>
            <a:r>
              <a:rPr b="0" i="0" lang="en-US" sz="1750" u="none" cap="none" strike="noStrike">
                <a:solidFill>
                  <a:srgbClr val="15213F"/>
                </a:solidFill>
                <a:latin typeface="Roboto"/>
                <a:ea typeface="Roboto"/>
                <a:cs typeface="Roboto"/>
                <a:sym typeface="Roboto"/>
              </a:rPr>
              <a:t>AND-OR Search</a:t>
            </a:r>
            <a:endParaRPr b="0" i="0" sz="17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p:nvPr/>
        </p:nvSpPr>
        <p:spPr>
          <a:xfrm>
            <a:off x="675323" y="530900"/>
            <a:ext cx="8524875" cy="48232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257B8"/>
              </a:buClr>
              <a:buSzPts val="3000"/>
              <a:buFont typeface="Roboto Slab"/>
              <a:buNone/>
            </a:pPr>
            <a:r>
              <a:rPr b="0" i="0" lang="en-US" sz="3000" u="none" cap="none" strike="noStrike">
                <a:solidFill>
                  <a:srgbClr val="3257B8"/>
                </a:solidFill>
                <a:latin typeface="Roboto Slab"/>
                <a:ea typeface="Roboto Slab"/>
                <a:cs typeface="Roboto Slab"/>
                <a:sym typeface="Roboto Slab"/>
              </a:rPr>
              <a:t>Adversarial Search and Constraint Satisfaction</a:t>
            </a:r>
            <a:endParaRPr b="0" i="0" sz="3000" u="none" cap="none" strike="noStrike"/>
          </a:p>
        </p:txBody>
      </p:sp>
      <p:sp>
        <p:nvSpPr>
          <p:cNvPr id="228" name="Google Shape;228;p22"/>
          <p:cNvSpPr/>
          <p:nvPr/>
        </p:nvSpPr>
        <p:spPr>
          <a:xfrm>
            <a:off x="675323" y="1302663"/>
            <a:ext cx="13279755" cy="30872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1500"/>
              <a:buFont typeface="Roboto"/>
              <a:buNone/>
            </a:pPr>
            <a:r>
              <a:rPr b="0" i="0" lang="en-US" sz="1500" u="none" cap="none" strike="noStrike">
                <a:solidFill>
                  <a:srgbClr val="15213F"/>
                </a:solidFill>
                <a:latin typeface="Roboto"/>
                <a:ea typeface="Roboto"/>
                <a:cs typeface="Roboto"/>
                <a:sym typeface="Roboto"/>
              </a:rPr>
              <a:t>These advanced techniques handle situations involving competition or complex logical constraints.</a:t>
            </a:r>
            <a:endParaRPr b="0" i="0" sz="1500" u="none" cap="none" strike="noStrike"/>
          </a:p>
        </p:txBody>
      </p:sp>
      <p:sp>
        <p:nvSpPr>
          <p:cNvPr id="229" name="Google Shape;229;p22"/>
          <p:cNvSpPr/>
          <p:nvPr/>
        </p:nvSpPr>
        <p:spPr>
          <a:xfrm>
            <a:off x="5034915" y="2045494"/>
            <a:ext cx="22860" cy="5436156"/>
          </a:xfrm>
          <a:prstGeom prst="roundRect">
            <a:avLst>
              <a:gd fmla="val 126620"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a:off x="4683323" y="2251115"/>
            <a:ext cx="385882" cy="22860"/>
          </a:xfrm>
          <a:prstGeom prst="roundRect">
            <a:avLst>
              <a:gd fmla="val 126620"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1" name="Google Shape;231;p22"/>
          <p:cNvPicPr preferRelativeResize="0"/>
          <p:nvPr/>
        </p:nvPicPr>
        <p:blipFill rotWithShape="1">
          <a:blip r:embed="rId3">
            <a:alphaModFix/>
          </a:blip>
          <a:srcRect b="0" l="0" r="0" t="0"/>
          <a:stretch/>
        </p:blipFill>
        <p:spPr>
          <a:xfrm>
            <a:off x="4974015" y="2190214"/>
            <a:ext cx="144661" cy="144661"/>
          </a:xfrm>
          <a:prstGeom prst="rect">
            <a:avLst/>
          </a:prstGeom>
          <a:noFill/>
          <a:ln>
            <a:noFill/>
          </a:ln>
        </p:spPr>
      </p:pic>
      <p:sp>
        <p:nvSpPr>
          <p:cNvPr id="232" name="Google Shape;232;p22"/>
          <p:cNvSpPr/>
          <p:nvPr/>
        </p:nvSpPr>
        <p:spPr>
          <a:xfrm>
            <a:off x="1862495" y="2111812"/>
            <a:ext cx="2412087" cy="301466"/>
          </a:xfrm>
          <a:prstGeom prst="rect">
            <a:avLst/>
          </a:prstGeom>
          <a:noFill/>
          <a:ln>
            <a:noFill/>
          </a:ln>
        </p:spPr>
        <p:txBody>
          <a:bodyPr anchorCtr="0" anchor="t" bIns="0" lIns="0" spcFirstLastPara="1" rIns="0" wrap="square" tIns="0">
            <a:noAutofit/>
          </a:bodyPr>
          <a:lstStyle/>
          <a:p>
            <a:pPr indent="0" lvl="0" marL="0" marR="0" rtl="0" algn="r">
              <a:lnSpc>
                <a:spcPct val="127027"/>
              </a:lnSpc>
              <a:spcBef>
                <a:spcPts val="0"/>
              </a:spcBef>
              <a:spcAft>
                <a:spcPts val="0"/>
              </a:spcAft>
              <a:buClr>
                <a:srgbClr val="15213F"/>
              </a:buClr>
              <a:buSzPts val="1850"/>
              <a:buFont typeface="Roboto Slab"/>
              <a:buNone/>
            </a:pPr>
            <a:r>
              <a:rPr b="0" i="0" lang="en-US" sz="1850" u="none" cap="none" strike="noStrike">
                <a:solidFill>
                  <a:srgbClr val="15213F"/>
                </a:solidFill>
                <a:latin typeface="Roboto Slab"/>
                <a:ea typeface="Roboto Slab"/>
                <a:cs typeface="Roboto Slab"/>
                <a:sym typeface="Roboto Slab"/>
              </a:rPr>
              <a:t>Minimax Algorithm</a:t>
            </a:r>
            <a:endParaRPr b="0" i="0" sz="1850" u="none" cap="none" strike="noStrike"/>
          </a:p>
        </p:txBody>
      </p:sp>
      <p:sp>
        <p:nvSpPr>
          <p:cNvPr id="233" name="Google Shape;233;p22"/>
          <p:cNvSpPr/>
          <p:nvPr/>
        </p:nvSpPr>
        <p:spPr>
          <a:xfrm>
            <a:off x="675323" y="2606159"/>
            <a:ext cx="3599259" cy="1234916"/>
          </a:xfrm>
          <a:prstGeom prst="rect">
            <a:avLst/>
          </a:prstGeom>
          <a:noFill/>
          <a:ln>
            <a:noFill/>
          </a:ln>
        </p:spPr>
        <p:txBody>
          <a:bodyPr anchorCtr="0" anchor="t" bIns="0" lIns="0" spcFirstLastPara="1" rIns="0" wrap="square" tIns="0">
            <a:noAutofit/>
          </a:bodyPr>
          <a:lstStyle/>
          <a:p>
            <a:pPr indent="0" lvl="0" marL="0" marR="0" rtl="0" algn="r">
              <a:lnSpc>
                <a:spcPct val="160000"/>
              </a:lnSpc>
              <a:spcBef>
                <a:spcPts val="0"/>
              </a:spcBef>
              <a:spcAft>
                <a:spcPts val="0"/>
              </a:spcAft>
              <a:buClr>
                <a:srgbClr val="15213F"/>
              </a:buClr>
              <a:buSzPts val="1500"/>
              <a:buFont typeface="Roboto"/>
              <a:buNone/>
            </a:pPr>
            <a:r>
              <a:rPr b="0" i="0" lang="en-US" sz="1500" u="none" cap="none" strike="noStrike">
                <a:solidFill>
                  <a:srgbClr val="15213F"/>
                </a:solidFill>
                <a:latin typeface="Roboto"/>
                <a:ea typeface="Roboto"/>
                <a:cs typeface="Roboto"/>
                <a:sym typeface="Roboto"/>
              </a:rPr>
              <a:t>Used in two-player, zero-sum games (like Chess). Assumes the opponent is perfectly rational and seeks to minimize the agent's outcome.</a:t>
            </a:r>
            <a:endParaRPr b="0" i="0" sz="1500" u="none" cap="none" strike="noStrike"/>
          </a:p>
        </p:txBody>
      </p:sp>
      <p:sp>
        <p:nvSpPr>
          <p:cNvPr id="234" name="Google Shape;234;p22"/>
          <p:cNvSpPr/>
          <p:nvPr/>
        </p:nvSpPr>
        <p:spPr>
          <a:xfrm>
            <a:off x="5023485" y="3408759"/>
            <a:ext cx="385882" cy="22860"/>
          </a:xfrm>
          <a:prstGeom prst="roundRect">
            <a:avLst>
              <a:gd fmla="val 126620"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22"/>
          <p:cNvPicPr preferRelativeResize="0"/>
          <p:nvPr/>
        </p:nvPicPr>
        <p:blipFill rotWithShape="1">
          <a:blip r:embed="rId3">
            <a:alphaModFix/>
          </a:blip>
          <a:srcRect b="0" l="0" r="0" t="0"/>
          <a:stretch/>
        </p:blipFill>
        <p:spPr>
          <a:xfrm>
            <a:off x="4974015" y="3347859"/>
            <a:ext cx="144661" cy="144661"/>
          </a:xfrm>
          <a:prstGeom prst="rect">
            <a:avLst/>
          </a:prstGeom>
          <a:noFill/>
          <a:ln>
            <a:noFill/>
          </a:ln>
        </p:spPr>
      </p:pic>
      <p:sp>
        <p:nvSpPr>
          <p:cNvPr id="236" name="Google Shape;236;p22"/>
          <p:cNvSpPr/>
          <p:nvPr/>
        </p:nvSpPr>
        <p:spPr>
          <a:xfrm>
            <a:off x="5818108" y="3269456"/>
            <a:ext cx="2412087" cy="30146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15213F"/>
              </a:buClr>
              <a:buSzPts val="1850"/>
              <a:buFont typeface="Roboto Slab"/>
              <a:buNone/>
            </a:pPr>
            <a:r>
              <a:rPr b="0" i="0" lang="en-US" sz="1850" u="none" cap="none" strike="noStrike">
                <a:solidFill>
                  <a:srgbClr val="15213F"/>
                </a:solidFill>
                <a:latin typeface="Roboto Slab"/>
                <a:ea typeface="Roboto Slab"/>
                <a:cs typeface="Roboto Slab"/>
                <a:sym typeface="Roboto Slab"/>
              </a:rPr>
              <a:t>Alpha-Beta Pruning</a:t>
            </a:r>
            <a:endParaRPr b="0" i="0" sz="1850" u="none" cap="none" strike="noStrike"/>
          </a:p>
        </p:txBody>
      </p:sp>
      <p:sp>
        <p:nvSpPr>
          <p:cNvPr id="237" name="Google Shape;237;p22"/>
          <p:cNvSpPr/>
          <p:nvPr/>
        </p:nvSpPr>
        <p:spPr>
          <a:xfrm>
            <a:off x="5818108" y="3763804"/>
            <a:ext cx="3599259" cy="123491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1500"/>
              <a:buFont typeface="Roboto"/>
              <a:buNone/>
            </a:pPr>
            <a:r>
              <a:rPr b="0" i="0" lang="en-US" sz="1500" u="none" cap="none" strike="noStrike">
                <a:solidFill>
                  <a:srgbClr val="15213F"/>
                </a:solidFill>
                <a:latin typeface="Roboto"/>
                <a:ea typeface="Roboto"/>
                <a:cs typeface="Roboto"/>
                <a:sym typeface="Roboto"/>
              </a:rPr>
              <a:t>An optimization for Minimax that eliminates branches of the search tree that are guaranteed not to lead to a better move, significantly increasing speed.</a:t>
            </a:r>
            <a:endParaRPr b="0" i="0" sz="1500" u="none" cap="none" strike="noStrike"/>
          </a:p>
        </p:txBody>
      </p:sp>
      <p:sp>
        <p:nvSpPr>
          <p:cNvPr id="238" name="Google Shape;238;p22"/>
          <p:cNvSpPr/>
          <p:nvPr/>
        </p:nvSpPr>
        <p:spPr>
          <a:xfrm>
            <a:off x="4683323" y="4499491"/>
            <a:ext cx="385882" cy="22860"/>
          </a:xfrm>
          <a:prstGeom prst="roundRect">
            <a:avLst>
              <a:gd fmla="val 126620"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9" name="Google Shape;239;p22"/>
          <p:cNvPicPr preferRelativeResize="0"/>
          <p:nvPr/>
        </p:nvPicPr>
        <p:blipFill rotWithShape="1">
          <a:blip r:embed="rId3">
            <a:alphaModFix/>
          </a:blip>
          <a:srcRect b="0" l="0" r="0" t="0"/>
          <a:stretch/>
        </p:blipFill>
        <p:spPr>
          <a:xfrm>
            <a:off x="4974015" y="4438590"/>
            <a:ext cx="144661" cy="144661"/>
          </a:xfrm>
          <a:prstGeom prst="rect">
            <a:avLst/>
          </a:prstGeom>
          <a:noFill/>
          <a:ln>
            <a:noFill/>
          </a:ln>
        </p:spPr>
      </p:pic>
      <p:sp>
        <p:nvSpPr>
          <p:cNvPr id="240" name="Google Shape;240;p22"/>
          <p:cNvSpPr/>
          <p:nvPr/>
        </p:nvSpPr>
        <p:spPr>
          <a:xfrm>
            <a:off x="675323" y="4360188"/>
            <a:ext cx="3599259" cy="602933"/>
          </a:xfrm>
          <a:prstGeom prst="rect">
            <a:avLst/>
          </a:prstGeom>
          <a:noFill/>
          <a:ln>
            <a:noFill/>
          </a:ln>
        </p:spPr>
        <p:txBody>
          <a:bodyPr anchorCtr="0" anchor="t" bIns="0" lIns="0" spcFirstLastPara="1" rIns="0" wrap="square" tIns="0">
            <a:noAutofit/>
          </a:bodyPr>
          <a:lstStyle/>
          <a:p>
            <a:pPr indent="0" lvl="0" marL="0" marR="0" rtl="0" algn="r">
              <a:lnSpc>
                <a:spcPct val="127027"/>
              </a:lnSpc>
              <a:spcBef>
                <a:spcPts val="0"/>
              </a:spcBef>
              <a:spcAft>
                <a:spcPts val="0"/>
              </a:spcAft>
              <a:buClr>
                <a:srgbClr val="15213F"/>
              </a:buClr>
              <a:buSzPts val="1850"/>
              <a:buFont typeface="Roboto Slab"/>
              <a:buNone/>
            </a:pPr>
            <a:r>
              <a:rPr b="0" i="0" lang="en-US" sz="1850" u="none" cap="none" strike="noStrike">
                <a:solidFill>
                  <a:srgbClr val="15213F"/>
                </a:solidFill>
                <a:latin typeface="Roboto Slab"/>
                <a:ea typeface="Roboto Slab"/>
                <a:cs typeface="Roboto Slab"/>
                <a:sym typeface="Roboto Slab"/>
              </a:rPr>
              <a:t>Constraint Satisfaction Problems (CSPs)</a:t>
            </a:r>
            <a:endParaRPr b="0" i="0" sz="1850" u="none" cap="none" strike="noStrike"/>
          </a:p>
        </p:txBody>
      </p:sp>
      <p:sp>
        <p:nvSpPr>
          <p:cNvPr id="241" name="Google Shape;241;p22"/>
          <p:cNvSpPr/>
          <p:nvPr/>
        </p:nvSpPr>
        <p:spPr>
          <a:xfrm>
            <a:off x="675323" y="5156002"/>
            <a:ext cx="3599259" cy="1234916"/>
          </a:xfrm>
          <a:prstGeom prst="rect">
            <a:avLst/>
          </a:prstGeom>
          <a:noFill/>
          <a:ln>
            <a:noFill/>
          </a:ln>
        </p:spPr>
        <p:txBody>
          <a:bodyPr anchorCtr="0" anchor="t" bIns="0" lIns="0" spcFirstLastPara="1" rIns="0" wrap="square" tIns="0">
            <a:noAutofit/>
          </a:bodyPr>
          <a:lstStyle/>
          <a:p>
            <a:pPr indent="0" lvl="0" marL="0" marR="0" rtl="0" algn="r">
              <a:lnSpc>
                <a:spcPct val="160000"/>
              </a:lnSpc>
              <a:spcBef>
                <a:spcPts val="0"/>
              </a:spcBef>
              <a:spcAft>
                <a:spcPts val="0"/>
              </a:spcAft>
              <a:buClr>
                <a:srgbClr val="15213F"/>
              </a:buClr>
              <a:buSzPts val="1500"/>
              <a:buFont typeface="Roboto"/>
              <a:buNone/>
            </a:pPr>
            <a:r>
              <a:rPr b="0" i="0" lang="en-US" sz="1500" u="none" cap="none" strike="noStrike">
                <a:solidFill>
                  <a:srgbClr val="15213F"/>
                </a:solidFill>
                <a:latin typeface="Roboto"/>
                <a:ea typeface="Roboto"/>
                <a:cs typeface="Roboto"/>
                <a:sym typeface="Roboto"/>
              </a:rPr>
              <a:t>Defined by variables, domains, and constraints. Solved using specialized search techniques (e.g., Cryptarithmetic Puzzles).</a:t>
            </a:r>
            <a:endParaRPr b="0" i="0" sz="1500" u="none" cap="none" strike="noStrike"/>
          </a:p>
        </p:txBody>
      </p:sp>
      <p:sp>
        <p:nvSpPr>
          <p:cNvPr id="242" name="Google Shape;242;p22"/>
          <p:cNvSpPr/>
          <p:nvPr/>
        </p:nvSpPr>
        <p:spPr>
          <a:xfrm>
            <a:off x="5023485" y="5740956"/>
            <a:ext cx="385882" cy="22860"/>
          </a:xfrm>
          <a:prstGeom prst="roundRect">
            <a:avLst>
              <a:gd fmla="val 126620"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3" name="Google Shape;243;p22"/>
          <p:cNvPicPr preferRelativeResize="0"/>
          <p:nvPr/>
        </p:nvPicPr>
        <p:blipFill rotWithShape="1">
          <a:blip r:embed="rId3">
            <a:alphaModFix/>
          </a:blip>
          <a:srcRect b="0" l="0" r="0" t="0"/>
          <a:stretch/>
        </p:blipFill>
        <p:spPr>
          <a:xfrm>
            <a:off x="4974015" y="5680055"/>
            <a:ext cx="144661" cy="144661"/>
          </a:xfrm>
          <a:prstGeom prst="rect">
            <a:avLst/>
          </a:prstGeom>
          <a:noFill/>
          <a:ln>
            <a:noFill/>
          </a:ln>
        </p:spPr>
      </p:pic>
      <p:sp>
        <p:nvSpPr>
          <p:cNvPr id="244" name="Google Shape;244;p22"/>
          <p:cNvSpPr/>
          <p:nvPr/>
        </p:nvSpPr>
        <p:spPr>
          <a:xfrm>
            <a:off x="5818108" y="5601653"/>
            <a:ext cx="2412087" cy="30146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15213F"/>
              </a:buClr>
              <a:buSzPts val="1850"/>
              <a:buFont typeface="Roboto Slab"/>
              <a:buNone/>
            </a:pPr>
            <a:r>
              <a:rPr b="0" i="0" lang="en-US" sz="1850" u="none" cap="none" strike="noStrike">
                <a:solidFill>
                  <a:srgbClr val="15213F"/>
                </a:solidFill>
                <a:latin typeface="Roboto Slab"/>
                <a:ea typeface="Roboto Slab"/>
                <a:cs typeface="Roboto Slab"/>
                <a:sym typeface="Roboto Slab"/>
              </a:rPr>
              <a:t>Heuristics in CSP</a:t>
            </a:r>
            <a:endParaRPr b="0" i="0" sz="1850" u="none" cap="none" strike="noStrike"/>
          </a:p>
        </p:txBody>
      </p:sp>
      <p:sp>
        <p:nvSpPr>
          <p:cNvPr id="245" name="Google Shape;245;p22"/>
          <p:cNvSpPr/>
          <p:nvPr/>
        </p:nvSpPr>
        <p:spPr>
          <a:xfrm>
            <a:off x="5818108" y="6096000"/>
            <a:ext cx="3599259" cy="123491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5213F"/>
              </a:buClr>
              <a:buSzPts val="1500"/>
              <a:buFont typeface="Roboto"/>
              <a:buNone/>
            </a:pPr>
            <a:r>
              <a:rPr b="0" i="0" lang="en-US" sz="1500" u="none" cap="none" strike="noStrike">
                <a:solidFill>
                  <a:srgbClr val="15213F"/>
                </a:solidFill>
                <a:latin typeface="Roboto"/>
                <a:ea typeface="Roboto"/>
                <a:cs typeface="Roboto"/>
                <a:sym typeface="Roboto"/>
              </a:rPr>
              <a:t>Techniques like Local Consistency, Backtracking, Minimum Remaining Value (MRV), and Degree Heuristic optimize the search for a consistent solution.</a:t>
            </a:r>
            <a:endParaRPr b="0" i="0" sz="1500" u="none" cap="none" strike="noStrike"/>
          </a:p>
        </p:txBody>
      </p:sp>
      <p:pic>
        <p:nvPicPr>
          <p:cNvPr descr="preencoded.png" id="246" name="Google Shape;246;p22"/>
          <p:cNvPicPr preferRelativeResize="0"/>
          <p:nvPr/>
        </p:nvPicPr>
        <p:blipFill rotWithShape="1">
          <a:blip r:embed="rId4">
            <a:alphaModFix/>
          </a:blip>
          <a:srcRect b="0" l="0" r="0" t="0"/>
          <a:stretch/>
        </p:blipFill>
        <p:spPr>
          <a:xfrm>
            <a:off x="9895761" y="2045494"/>
            <a:ext cx="3343275" cy="1823561"/>
          </a:xfrm>
          <a:prstGeom prst="rect">
            <a:avLst/>
          </a:prstGeom>
          <a:noFill/>
          <a:ln>
            <a:noFill/>
          </a:ln>
        </p:spPr>
      </p:pic>
      <p:pic>
        <p:nvPicPr>
          <p:cNvPr descr="preencoded.png" id="247" name="Google Shape;247;p22"/>
          <p:cNvPicPr preferRelativeResize="0"/>
          <p:nvPr/>
        </p:nvPicPr>
        <p:blipFill rotWithShape="1">
          <a:blip r:embed="rId5">
            <a:alphaModFix/>
          </a:blip>
          <a:srcRect b="0" l="0" r="0" t="0"/>
          <a:stretch/>
        </p:blipFill>
        <p:spPr>
          <a:xfrm>
            <a:off x="9895761" y="4086106"/>
            <a:ext cx="4066818" cy="221825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